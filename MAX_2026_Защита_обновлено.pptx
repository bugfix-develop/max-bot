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nSpc>
                <a:spcPct val="90000"/>
              </a:lnSpc>
            </a:pPr>
            <a:r>
              <a:rPr b="0" lang="ru-RU" sz="4400" strike="noStrike" u="none">
                <a:solidFill>
                  <a:schemeClr val="dk1"/>
                </a:solidFill>
                <a:effectLst/>
                <a:uFillTx/>
                <a:latin typeface="Calibri Light"/>
              </a:rPr>
              <a:t>Для перемещения страницы </a:t>
            </a:r>
            <a:r>
              <a:rPr b="0" lang="ru-RU" sz="4400" strike="noStrike" u="none">
                <a:solidFill>
                  <a:schemeClr val="dk1"/>
                </a:solidFill>
                <a:effectLst/>
                <a:uFillTx/>
                <a:latin typeface="Calibri Light"/>
              </a:rPr>
              <a:t>щёлкните мышью</a:t>
            </a:r>
            <a:endParaRPr b="0" lang="ru-RU" sz="4400" strike="noStrike" u="none">
              <a:solidFill>
                <a:schemeClr val="dk1"/>
              </a:solidFill>
              <a:effectLst/>
              <a:uFillTx/>
              <a:latin typeface="Calibri Light"/>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ru-RU" sz="2000" strike="noStrike" u="none">
                <a:solidFill>
                  <a:srgbClr val="000000"/>
                </a:solidFill>
                <a:effectLst/>
                <a:uFillTx/>
                <a:latin typeface="Arial"/>
              </a:rPr>
              <a:t>Для правки формата примечаний щёлкните мышью</a:t>
            </a:r>
            <a:endParaRPr b="0" lang="ru-RU" sz="2000" strike="noStrike" u="non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ru-RU" sz="1400" strike="noStrike" u="none">
                <a:solidFill>
                  <a:srgbClr val="000000"/>
                </a:solidFill>
                <a:effectLst/>
                <a:uFillTx/>
                <a:latin typeface="Times New Roman"/>
              </a:rPr>
              <a:t> </a:t>
            </a:r>
            <a:endParaRPr b="0" lang="ru-RU" sz="1400" strike="noStrike" u="non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ru-RU" sz="1400" strike="noStrike" u="none">
                <a:solidFill>
                  <a:srgbClr val="000000"/>
                </a:solidFill>
                <a:effectLst/>
                <a:uFillTx/>
                <a:latin typeface="Times New Roman"/>
              </a:defRPr>
            </a:lvl1pPr>
          </a:lstStyle>
          <a:p>
            <a:pPr indent="0" algn="r">
              <a:buNone/>
            </a:pPr>
            <a:r>
              <a:rPr b="0" lang="ru-RU" sz="1400" strike="noStrike" u="none">
                <a:solidFill>
                  <a:srgbClr val="000000"/>
                </a:solidFill>
                <a:effectLst/>
                <a:uFillTx/>
                <a:latin typeface="Times New Roman"/>
              </a:rPr>
              <a:t> </a:t>
            </a:r>
            <a:endParaRPr b="0" lang="ru-RU" sz="1400" strike="noStrike" u="non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ru-RU" sz="1400" strike="noStrike" u="none">
                <a:solidFill>
                  <a:srgbClr val="000000"/>
                </a:solidFill>
                <a:effectLst/>
                <a:uFillTx/>
                <a:latin typeface="Times New Roman"/>
              </a:defRPr>
            </a:lvl1pPr>
          </a:lstStyle>
          <a:p>
            <a:pPr indent="0">
              <a:buNone/>
            </a:pPr>
            <a:r>
              <a:rPr b="0" lang="ru-RU" sz="1400" strike="noStrike" u="none">
                <a:solidFill>
                  <a:srgbClr val="000000"/>
                </a:solidFill>
                <a:effectLst/>
                <a:uFillTx/>
                <a:latin typeface="Times New Roman"/>
              </a:rPr>
              <a:t> </a:t>
            </a:r>
            <a:endParaRPr b="0" lang="ru-RU" sz="1400" strike="noStrike" u="non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ru-RU" sz="1400" strike="noStrike" u="none">
                <a:solidFill>
                  <a:srgbClr val="000000"/>
                </a:solidFill>
                <a:effectLst/>
                <a:uFillTx/>
                <a:latin typeface="Times New Roman"/>
              </a:defRPr>
            </a:lvl1pPr>
          </a:lstStyle>
          <a:p>
            <a:pPr indent="0" algn="r">
              <a:buNone/>
            </a:pPr>
            <a:fld id="{4714E214-82F5-4AD5-BAB5-2593BAA7B787}" type="slidenum">
              <a:rPr b="0" lang="ru-RU" sz="1400" strike="noStrike" u="none">
                <a:solidFill>
                  <a:srgbClr val="000000"/>
                </a:solidFill>
                <a:effectLst/>
                <a:uFillTx/>
                <a:latin typeface="Times New Roman"/>
              </a:rPr>
              <a:t>1</a:t>
            </a:fld>
            <a:endParaRPr b="0" lang="ru-RU"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0" y="0"/>
            <a:ext cx="0" cy="0"/>
          </a:xfrm>
          <a:prstGeom prst="rect">
            <a:avLst/>
          </a:prstGeom>
          <a:ln w="0">
            <a:noFill/>
          </a:ln>
        </p:spPr>
      </p:sp>
      <p:sp>
        <p:nvSpPr>
          <p:cNvPr id="1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технический участник. Ориентир: 0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Слайд подготовлен по странице 10 требований. Ссылка на бота взята из README и не подтверждает доступность сервиса. Публичный HTTPS-адрес API и тестовый аккаунт не найдены. Тестовые логины приложения отсутствуют: текущий прототип получает user_id от клиента. Рабочие секреты не включены согласно прямому указанию пользователя. Перед закрытой сдачей согласовать безопасную передачу реквизитов с организаторами.</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Для выступления перейти на слайд 2.</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https://github.com/BugFix-develop/MAX-BOT/blob/8b1f8f7edef8a40153a51e56d3145a203eb212d7/README.md</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Образовательные решения.pdf, с. 9–11</a:t>
            </a:r>
            <a:endParaRPr b="0" lang="ru-RU" sz="2000" strike="noStrike" u="none">
              <a:solidFill>
                <a:srgbClr val="000000"/>
              </a:solidFill>
              <a:effectLst/>
              <a:uFillTx/>
              <a:latin typeface="Arial"/>
            </a:endParaRPr>
          </a:p>
        </p:txBody>
      </p:sp>
      <p:sp>
        <p:nvSpPr>
          <p:cNvPr id="173"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0" y="0"/>
            <a:ext cx="0" cy="0"/>
          </a:xfrm>
          <a:prstGeom prst="rect">
            <a:avLst/>
          </a:prstGeom>
          <a:ln w="0">
            <a:noFill/>
          </a:ln>
        </p:spPr>
      </p:sp>
      <p:sp>
        <p:nvSpPr>
          <p:cNvPr id="1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продукт / проблема. Ориентир: 30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Мы представляем тренажёр формул сокращённого умножения для MAX. Он помогает семикласснику получить задачу, проверить ответ и увидеть результат, а учителю даёт основу урока и готовые задания. Мы выбрали одну конкретную тему алгебры, чтобы собрать законченный пользовательский сценарий. Сегодня покажем мобильный интерфейс на скриншоте команды, объясним, что проверено в коде ветки step7, и обозначим ближайшие доработки.</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Начнём с ситуации ученика после урока.</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https://github.com/BugFix-develop/MAX-BOT/blob/8b1f8f7edef8a40153a51e56d3145a203eb212d7/README.md</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https://github.com/BugFix-develop/MAX-BOT/blob/8b1f8f7edef8a40153a51e56d3145a203eb212d7/docs/ROADMAP.md</a:t>
            </a:r>
            <a:endParaRPr b="0" lang="ru-RU" sz="2000" strike="noStrike" u="none">
              <a:solidFill>
                <a:srgbClr val="000000"/>
              </a:solidFill>
              <a:effectLst/>
              <a:uFillTx/>
              <a:latin typeface="Arial"/>
            </a:endParaRPr>
          </a:p>
        </p:txBody>
      </p:sp>
      <p:sp>
        <p:nvSpPr>
          <p:cNvPr id="176"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0" y="0"/>
            <a:ext cx="0" cy="0"/>
          </a:xfrm>
          <a:prstGeom prst="rect">
            <a:avLst/>
          </a:prstGeom>
          <a:ln w="0">
            <a:noFill/>
          </a:ln>
        </p:spPr>
      </p:sp>
      <p:sp>
        <p:nvSpPr>
          <p:cNvPr id="1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продукт / проблема. Ориентир: 50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Наш первый пользователь — ученик седьмого класса, который уже познакомился с формулами и закрепляет их самостоятельно. Например, при раскрытии квадрата суммы легко потерять удвоенное произведение. Если ученик не получает обратную связь, он может повторять одну и ту же ошибку. Это не выдуманная математическая трудность: в материалах регионального методиста ТОГИРРО неверное применение формул сокращённого умножения отмечено среди типичных ошибок ОГЭ 2025. Эти данные относятся к девятиклассникам и не измеряют спрос на наш продукт. Гипотеза команды состоит в том, что короткая практика с проверкой будет полезна раньше, при изучении темы.</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Покажем, как продукт закрывает эту ситуацию.</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https://togirro.ru/upload/medialibrary/5f5/h2ii1u5ps5cphx0cv0u1zw1p9q4ek5fc.pdf, с. 9</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https://github.com/BugFix-develop/MAX-BOT/blob/8b1f8f7edef8a40153a51e56d3145a203eb212d7/core/lesson_builder.py</a:t>
            </a:r>
            <a:endParaRPr b="0" lang="ru-RU" sz="2000" strike="noStrike" u="none">
              <a:solidFill>
                <a:srgbClr val="000000"/>
              </a:solidFill>
              <a:effectLst/>
              <a:uFillTx/>
              <a:latin typeface="Arial"/>
            </a:endParaRPr>
          </a:p>
        </p:txBody>
      </p:sp>
      <p:sp>
        <p:nvSpPr>
          <p:cNvPr id="179"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0" y="0"/>
            <a:ext cx="0" cy="0"/>
          </a:xfrm>
          <a:prstGeom prst="rect">
            <a:avLst/>
          </a:prstGeom>
          <a:ln w="0">
            <a:noFill/>
          </a:ln>
        </p:spPr>
      </p:sp>
      <p:sp>
        <p:nvSpPr>
          <p:cNvPr id="1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решение / демонстрация. Ориентир: 45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У пользователя есть два пути. В чате он вызывает task, получает задание, отправляет ответ и открывает статистику. Команда app предлагает перейти в визуальный тренажёр. Там есть экранная клавиатура для степеней и переменных, справочник и выбор конкретного шаблона. Оба интерфейса используют общий математический движок. В коде присутствуют клиент MAX Bot API и подключение MAX Bridge. Но локальный запуск не доказывает корректный запуск мини-приложения внутри MAX. Кнопка сейчас использует ссылку, поэтому этот переход и идентификацию ученика необходимо отдельно проверить на обеих версиях платформы.</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Теперь покажем мобильный экран, который предоставила команда.</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https://github.com/BugFix-develop/MAX-BOT/blob/8b1f8f7edef8a40153a51e56d3145a203eb212d7/bot/handlers.py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https://github.com/BugFix-develop/MAX-BOT/blob/8b1f8f7edef8a40153a51e56d3145a203eb212d7/bot/max_api.py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https://github.com/BugFix-develop/MAX-BOT/blob/8b1f8f7edef8a40153a51e56d3145a203eb212d7/webapp/index.html</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https://dev.max.ru/docs/webapps/bridge</a:t>
            </a:r>
            <a:endParaRPr b="0" lang="ru-RU" sz="2000" strike="noStrike" u="none">
              <a:solidFill>
                <a:srgbClr val="000000"/>
              </a:solidFill>
              <a:effectLst/>
              <a:uFillTx/>
              <a:latin typeface="Arial"/>
            </a:endParaRPr>
          </a:p>
        </p:txBody>
      </p:sp>
      <p:sp>
        <p:nvSpPr>
          <p:cNvPr id="182"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0" y="0"/>
            <a:ext cx="0" cy="0"/>
          </a:xfrm>
          <a:prstGeom prst="rect">
            <a:avLst/>
          </a:prstGeom>
          <a:ln w="0">
            <a:noFill/>
          </a:ln>
        </p:spPr>
      </p:sp>
      <p:sp>
        <p:nvSpPr>
          <p:cNvPr id="1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решение / демонстрация. Ориентир: 75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Это мобильный интерфейс, который предоставила команда: светлый экран с фиолетовыми акцентами. Слева он показан целиком без панели браузера, справа увеличены условие и поле ответа. Ученик раскрывает квадрат разности, вводит выражение с помощью математической клавиатуры, может открыть подсказку и перейти к другой задаче. В нижней навигации доступны тренажёр, статистика, раздел для учителя и формулы. На присланном кадре сервис сообщает «Есть расхождение», хотя ответ и эталон визуально совпадают. По изображению нельзя установить причину. Этот кадр показывает настоящий дизайн и доступные элементы управления. Успешное прохождение проверки он не подтверждает. Его нужно повторить перед живой демонстрацией. Ранее ядро отдельно проверено локальным запуском и тестами зафиксированного коммита.</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Тот же банк задач используется для подготовки материалов учителя.</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Скриншот команды: photo_5323734997485167536_y.jpg, предоставлен пользователем. Точный коммит изображения не установлен.</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https://github.com/BugFix-develop/MAX-BOT/blob/8b1f8f7edef8a40153a51e56d3145a203eb212d7/webapp_server.py</a:t>
            </a:r>
            <a:endParaRPr b="0" lang="ru-RU" sz="2000" strike="noStrike" u="none">
              <a:solidFill>
                <a:srgbClr val="000000"/>
              </a:solidFill>
              <a:effectLst/>
              <a:uFillTx/>
              <a:latin typeface="Arial"/>
            </a:endParaRPr>
          </a:p>
        </p:txBody>
      </p:sp>
      <p:sp>
        <p:nvSpPr>
          <p:cNvPr id="185"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0" y="0"/>
            <a:ext cx="0" cy="0"/>
          </a:xfrm>
          <a:prstGeom prst="rect">
            <a:avLst/>
          </a:prstGeom>
          <a:ln w="0">
            <a:noFill/>
          </a:ln>
        </p:spPr>
      </p:sp>
      <p:sp>
        <p:nvSpPr>
          <p:cNvPr id="1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решение / демонстрация. Ориентир: 45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Второй пользователь — учитель математики, которому нужны дополнительные упражнения по той же теме. Здесь показана структура материалов по коду зафиксированной ветки, а не снимок вкладки учителя. Сервис собирает план на 45 минут: разминку, теорию, практику и домашнее задание. Отдельная функция создаёт вариант из пятнадцати задач с ответами. Это шаблонная сборка на основе каталога и случайных коэффициентов. Языковой модели в проекте нет. План служит заготовкой для преподавателя: соответствие программе, сложность и формулировки нужно проверить. Экономию времени мы пока не измеряли.</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Сравним наше место в уже существующем наборе учебных инструментов.</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https://github.com/BugFix-develop/MAX-BOT/blob/8b1f8f7edef8a40153a51e56d3145a203eb212d7/core/lesson_builder.py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https://github.com/BugFix-develop/MAX-BOT/blob/8b1f8f7edef8a40153a51e56d3145a203eb212d7/webapp_server.py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Актуальный снимок вкладки «Учителю» не предоставлен. На слайде редактируемая схема содержания.</a:t>
            </a:r>
            <a:endParaRPr b="0" lang="ru-RU" sz="2000" strike="noStrike" u="none">
              <a:solidFill>
                <a:srgbClr val="000000"/>
              </a:solidFill>
              <a:effectLst/>
              <a:uFillTx/>
              <a:latin typeface="Arial"/>
            </a:endParaRPr>
          </a:p>
        </p:txBody>
      </p:sp>
      <p:sp>
        <p:nvSpPr>
          <p:cNvPr id="188"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0" y="0"/>
            <a:ext cx="0" cy="0"/>
          </a:xfrm>
          <a:prstGeom prst="rect">
            <a:avLst/>
          </a:prstGeom>
          <a:ln w="0">
            <a:noFill/>
          </a:ln>
        </p:spPr>
      </p:sp>
      <p:sp>
        <p:nvSpPr>
          <p:cNvPr id="19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продукт / проблема. Ориентир: 40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Мы не утверждаем, что автоматическая проверка заданий или планы уроков появились впервые. Например, Учи.ру уже предлагает материалы по алгебре для седьмого класса, тренажёры и отчёты. Наша ставка — конкретный вход через MAX и небольшой сценарий повторения одной темы. Для учителя это может стать дополнением к учебнику и существующим платформам. Для ученика ценность нужно подтвердить удобством перехода от чата к практике. В дальнейшем удобство можно проверить с учениками и учителями. Такой запуск пока не согласован.</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Такой фокус определяет и компактную архитектуру.</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https://uchi.ru/podgotovka-k-uroku/5-11/7-klass/759_algebra</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https://github.com/BugFix-develop/MAX-BOT/blob/8b1f8f7edef8a40153a51e56d3145a203eb212d7/README.md</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https://github.com/BugFix-develop/MAX-BOT/blob/8b1f8f7edef8a40153a51e56d3145a203eb212d7/webapp/index.html</a:t>
            </a:r>
            <a:endParaRPr b="0" lang="ru-RU" sz="2000" strike="noStrike" u="none">
              <a:solidFill>
                <a:srgbClr val="000000"/>
              </a:solidFill>
              <a:effectLst/>
              <a:uFillTx/>
              <a:latin typeface="Arial"/>
            </a:endParaRPr>
          </a:p>
        </p:txBody>
      </p:sp>
      <p:sp>
        <p:nvSpPr>
          <p:cNvPr id="191"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0" y="0"/>
            <a:ext cx="0" cy="0"/>
          </a:xfrm>
          <a:prstGeom prst="rect">
            <a:avLst/>
          </a:prstGeom>
          <a:ln w="0">
            <a:noFill/>
          </a:ln>
        </p:spPr>
      </p:sp>
      <p:sp>
        <p:nvSpPr>
          <p:cNvPr id="19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техническая часть. Ориентир: 55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Решение состоит из двух входов в общее ядро. MAX Bot API получает события через long polling, а обработчики управляют диалогом. Веб-интерфейс написан на обычных HTML, CSS и JavaScript и обращается к небольшому HTTP API на стандартной библиотеке Python. Генератор берёт один из тридцати JSON-шаблонов, подставляет коэффициенты и вычисляет эталон. Валидатор нормализует запись и сравнивает строки. SQLite хранит пользователей, выданные задания, ответы и планы уроков. Активное состояние чата хранится в памяти процесса. Dockerfile и compose включены. Это простая архитектура MVP, которую можно объяснить и воспроизвести. Нагрузочную устойчивость и контейнерную сборку в этой проверке мы не измеряли.</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Разделим наличие кода и результаты выполненных проверок.</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https://github.com/BugFix-develop/MAX-BOT/blob/8b1f8f7edef8a40153a51e56d3145a203eb212d7/main.py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https://github.com/BugFix-develop/MAX-BOT/blob/8b1f8f7edef8a40153a51e56d3145a203eb212d7/bot/max_api.py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https://github.com/BugFix-develop/MAX-BOT/blob/8b1f8f7edef8a40153a51e56d3145a203eb212d7/webapp_server.py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https://github.com/BugFix-develop/MAX-BOT/blob/8b1f8f7edef8a40153a51e56d3145a203eb212d7/engine/generator.py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https://github.com/BugFix-develop/MAX-BOT/blob/8b1f8f7edef8a40153a51e56d3145a203eb212d7/core/validator.py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https://github.com/BugFix-develop/MAX-BOT/blob/8b1f8f7edef8a40153a51e56d3145a203eb212d7/storage/db.py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https://github.com/BugFix-develop/MAX-BOT/blob/8b1f8f7edef8a40153a51e56d3145a203eb212d7/Dockerfile</a:t>
            </a:r>
            <a:endParaRPr b="0" lang="ru-RU" sz="2000" strike="noStrike" u="none">
              <a:solidFill>
                <a:srgbClr val="000000"/>
              </a:solidFill>
              <a:effectLst/>
              <a:uFillTx/>
              <a:latin typeface="Arial"/>
            </a:endParaRPr>
          </a:p>
        </p:txBody>
      </p:sp>
      <p:sp>
        <p:nvSpPr>
          <p:cNvPr id="194"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0" y="0"/>
            <a:ext cx="0" cy="0"/>
          </a:xfrm>
          <a:prstGeom prst="rect">
            <a:avLst/>
          </a:prstGeom>
          <a:ln w="0">
            <a:noFill/>
          </a:ln>
        </p:spPr>
      </p:sp>
      <p:sp>
        <p:nvSpPr>
          <p:cNvPr id="19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техническая часть. Ориентир: 45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Мы проверили не только README. В каталоге действительно тридцать шаблонов, а в текущей ветке обнаружено тридцать пять тестов. После установки зависимостей на чистой базе прошли тридцать три. Ещё два теста ожидали уже созданную таблицу пользователей. После вызова штатной функции инициализации прошли все тридцать пять, без изменения исходного кода. Это полезное подтверждение связности модулей, но оно не является доказательством отсутствия ошибок. Тесты клиента MAX используют локальные объекты. Дополнительно через настоящий браузер мы прошли задачу, проверку, статистику и создание плана урока.</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Следующий слайд показывает, что необходимо исправить для стабильной работы сервиса.</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https://github.com/BugFix-develop/MAX-BOT/blob/8b1f8f7edef8a40153a51e56d3145a203eb212d7/tests/test_generator.py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https://github.com/BugFix-develop/MAX-BOT/blob/8b1f8f7edef8a40153a51e56d3145a203eb212d7/tests/test_handlers.py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https://github.com/BugFix-develop/MAX-BOT/blob/8b1f8f7edef8a40153a51e56d3145a203eb212d7/tests/test_math.py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https://github.com/BugFix-develop/MAX-BOT/blob/8b1f8f7edef8a40153a51e56d3145a203eb212d7/tests/test_webapp.py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Локальные прогоны pytest 29.09.2026: 33 passed / 2 failed без init_db; 35 passed после init_db.</a:t>
            </a:r>
            <a:endParaRPr b="0" lang="ru-RU" sz="2000" strike="noStrike" u="none">
              <a:solidFill>
                <a:srgbClr val="000000"/>
              </a:solidFill>
              <a:effectLst/>
              <a:uFillTx/>
              <a:latin typeface="Arial"/>
            </a:endParaRPr>
          </a:p>
        </p:txBody>
      </p:sp>
      <p:sp>
        <p:nvSpPr>
          <p:cNvPr id="197"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0" y="0"/>
            <a:ext cx="0" cy="0"/>
          </a:xfrm>
          <a:prstGeom prst="rect">
            <a:avLst/>
          </a:prstGeom>
          <a:ln w="0">
            <a:noFill/>
          </a:ln>
        </p:spPr>
      </p:sp>
      <p:sp>
        <p:nvSpPr>
          <p:cNvPr id="19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техническая часть. Ориентир: 50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Есть три группы обязательных доработок. Первая касается математики. На скриншоте команды сервис сообщает о расхождении при визуально одинаковых ответе и эталоне. Причину по изображению не установить. В отдельно проверенном коммите валидатор сравнивает строки и может отвергнуть верный ответ с другим порядком слагаемых. Заявленный ввод степени словами также не прошёл отдельную проверку. Вторая группа касается доверия: веб-клиент отправляет эталон ответа и идентификатор пользователя, а сервер пока не подтверждает их подлинность. Третья — готовность пользовательского пути: в локальном запуске зафиксированного коммита мы увидели несовпадение счётчика и списка истории, а блок обратной связи мог оставаться скрытым. На снимке команды сообщение видно, поэтому результаты разных проверок не смешиваем. Нужны стабильный HTTPS, включённая проверка сертификатов и подтверждённый запуск внутри MAX. Эти ограничения не скрываем и не называем прототип готовым к массовому школьному использованию.</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Покажем, как проверить результат этих доработок.</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https://github.com/BugFix-develop/MAX-BOT/blob/8b1f8f7edef8a40153a51e56d3145a203eb212d7/core/validator.py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https://github.com/BugFix-develop/MAX-BOT/blob/8b1f8f7edef8a40153a51e56d3145a203eb212d7/webapp_server.py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https://github.com/BugFix-develop/MAX-BOT/blob/8b1f8f7edef8a40153a51e56d3145a203eb212d7/webapp/index.html</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https://github.com/BugFix-develop/MAX-BOT/blob/8b1f8f7edef8a40153a51e56d3145a203eb212d7/bot/max_api.py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https://dev.max.ru/docs/webapps/bridge</a:t>
            </a:r>
            <a:endParaRPr b="0" lang="ru-RU" sz="2000" strike="noStrike" u="none">
              <a:solidFill>
                <a:srgbClr val="000000"/>
              </a:solidFill>
              <a:effectLst/>
              <a:uFillTx/>
              <a:latin typeface="Arial"/>
            </a:endParaRPr>
          </a:p>
        </p:txBody>
      </p:sp>
      <p:sp>
        <p:nvSpPr>
          <p:cNvPr id="200"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0" y="0"/>
            <a:ext cx="0" cy="0"/>
          </a:xfrm>
          <a:prstGeom prst="rect">
            <a:avLst/>
          </a:prstGeom>
          <a:ln w="0">
            <a:noFill/>
          </a:ln>
        </p:spPr>
      </p:sp>
      <p:sp>
        <p:nvSpPr>
          <p:cNvPr id="20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эффект / внедрение. Ориентир: 55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Ближайший этап — доработать сервис и проверить его по конкретным сценариям. Для проверки ответов нужен набор математически верных и неверных выражений, включая разные способы ввода степеней и эквивалентные формы. Затем нужно пройти полный путь внутри MAX на телефоне и в веб-клиенте: открыть тренажёр, получить задачу, отправить ответ и увидеть результат. Отдельно сверяем статистику и историю, а также проверяем, что пользователь получает доступ только к собственным данным. Эти проверки ещё предстоят, и мы не выдаём их за выполненные. Успех следующего этапа — корректная проверка ответов и стабильное прохождение основного сценария.</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После этого можно рассматривать дальнейшее развитие.</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https://github.com/BugFix-develop/MAX-BOT/blob/8b1f8f7edef8a40153a51e56d3145a203eb212d7/core/validator.py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https://github.com/BugFix-develop/MAX-BOT/blob/8b1f8f7edef8a40153a51e56d3145a203eb212d7/webapp_server.py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https://github.com/BugFix-develop/MAX-BOT/blob/8b1f8f7edef8a40153a51e56d3145a203eb212d7/bot/max_api.py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Предложенные критерии приёмки доработок. Сроки и достигнутые результаты не заявлены.</a:t>
            </a:r>
            <a:endParaRPr b="0" lang="ru-RU" sz="2000" strike="noStrike" u="none">
              <a:solidFill>
                <a:srgbClr val="000000"/>
              </a:solidFill>
              <a:effectLst/>
              <a:uFillTx/>
              <a:latin typeface="Arial"/>
            </a:endParaRPr>
          </a:p>
        </p:txBody>
      </p:sp>
      <p:sp>
        <p:nvSpPr>
          <p:cNvPr id="203"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sldImg"/>
          </p:nvPr>
        </p:nvSpPr>
        <p:spPr>
          <a:xfrm>
            <a:off x="0" y="0"/>
            <a:ext cx="0" cy="0"/>
          </a:xfrm>
          <a:prstGeom prst="rect">
            <a:avLst/>
          </a:prstGeom>
          <a:ln w="0">
            <a:noFill/>
          </a:ln>
        </p:spPr>
      </p:sp>
      <p:sp>
        <p:nvSpPr>
          <p:cNvPr id="20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эффект / масштабирование. Ориентир: 45 сек. Это репетиционный ориентир, не </a:t>
            </a:r>
            <a:r>
              <a:rPr b="0" lang="ru-RU" sz="2000" strike="noStrike" u="none">
                <a:solidFill>
                  <a:srgbClr val="000000"/>
                </a:solidFill>
                <a:effectLst/>
                <a:uFillTx/>
                <a:latin typeface="Arial"/>
              </a:rPr>
              <a:t>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Потенциальную аудиторию мы начинаем с узкого сегмента: седьмые классы, где MAX уже </a:t>
            </a:r>
            <a:r>
              <a:rPr b="0" lang="ru-RU" sz="2000" strike="noStrike" u="none">
                <a:solidFill>
                  <a:srgbClr val="000000"/>
                </a:solidFill>
                <a:effectLst/>
                <a:uFillTx/>
                <a:latin typeface="Arial"/>
              </a:rPr>
              <a:t>используется для учебного общения. Численный размер этого сегмента пока не оценён. </a:t>
            </a:r>
            <a:r>
              <a:rPr b="0" lang="ru-RU" sz="2000" strike="noStrike" u="none">
                <a:solidFill>
                  <a:srgbClr val="000000"/>
                </a:solidFill>
                <a:effectLst/>
                <a:uFillTx/>
                <a:latin typeface="Arial"/>
              </a:rPr>
              <a:t>После технических доработок возможна проверка удобства с учениками и учителями. </a:t>
            </a:r>
            <a:r>
              <a:rPr b="0" lang="ru-RU" sz="2000" strike="noStrike" u="none">
                <a:solidFill>
                  <a:srgbClr val="000000"/>
                </a:solidFill>
                <a:effectLst/>
                <a:uFillTx/>
                <a:latin typeface="Arial"/>
              </a:rPr>
              <a:t>Конкретные классы, сроки и участие школ не согласованы. По результатам такой проверки </a:t>
            </a:r>
            <a:r>
              <a:rPr b="0" lang="ru-RU" sz="2000" strike="noStrike" u="none">
                <a:solidFill>
                  <a:srgbClr val="000000"/>
                </a:solidFill>
                <a:effectLst/>
                <a:uFillTx/>
                <a:latin typeface="Arial"/>
              </a:rPr>
              <a:t>можно рассматривать другие классы и школы с той же программой. Затем можно </a:t>
            </a:r>
            <a:r>
              <a:rPr b="0" lang="ru-RU" sz="2000" strike="noStrike" u="none">
                <a:solidFill>
                  <a:srgbClr val="000000"/>
                </a:solidFill>
                <a:effectLst/>
                <a:uFillTx/>
                <a:latin typeface="Arial"/>
              </a:rPr>
              <a:t>проверить повторение базовой алгебры в колледжах и занятия с репетиторами. При </a:t>
            </a:r>
            <a:r>
              <a:rPr b="0" lang="ru-RU" sz="2000" strike="noStrike" u="none">
                <a:solidFill>
                  <a:srgbClr val="000000"/>
                </a:solidFill>
                <a:effectLst/>
                <a:uFillTx/>
                <a:latin typeface="Arial"/>
              </a:rPr>
              <a:t>переносе сохраняются логика выдачи и проверки, API и структура данных. Меняются </a:t>
            </a:r>
            <a:r>
              <a:rPr b="0" lang="ru-RU" sz="2000" strike="noStrike" u="none">
                <a:solidFill>
                  <a:srgbClr val="000000"/>
                </a:solidFill>
                <a:effectLst/>
                <a:uFillTx/>
                <a:latin typeface="Arial"/>
              </a:rPr>
              <a:t>наборы заданий, сложность и методические материалы. Для нескольких организаций </a:t>
            </a:r>
            <a:r>
              <a:rPr b="0" lang="ru-RU" sz="2000" strike="noStrike" u="none">
                <a:solidFill>
                  <a:srgbClr val="000000"/>
                </a:solidFill>
                <a:effectLst/>
                <a:uFillTx/>
                <a:latin typeface="Arial"/>
              </a:rPr>
              <a:t>понадобятся управление доступом, наблюдаемость сервиса и проверка нагрузки. Простое </a:t>
            </a:r>
            <a:r>
              <a:rPr b="0" lang="ru-RU" sz="2000" strike="noStrike" u="none">
                <a:solidFill>
                  <a:srgbClr val="000000"/>
                </a:solidFill>
                <a:effectLst/>
                <a:uFillTx/>
                <a:latin typeface="Arial"/>
              </a:rPr>
              <a:t>увеличение каталога само по себе не означает готовность к масштабированию.</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Завершим тем, какое решение предлагаем проверить и внедрять дальше.</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a:t>
            </a:r>
            <a:r>
              <a:rPr b="0" lang="ru-RU" sz="2000" strike="noStrike" u="none">
                <a:solidFill>
                  <a:srgbClr val="000000"/>
                </a:solidFill>
                <a:effectLst/>
                <a:uFillTx/>
                <a:latin typeface="Arial"/>
              </a:rPr>
              <a:t>8b1f8f7edef8a40153a51e56d3145a203eb212d7/engine/generator.py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a:t>
            </a:r>
            <a:r>
              <a:rPr b="0" lang="ru-RU" sz="2000" strike="noStrike" u="none">
                <a:solidFill>
                  <a:srgbClr val="000000"/>
                </a:solidFill>
                <a:effectLst/>
                <a:uFillTx/>
                <a:latin typeface="Arial"/>
              </a:rPr>
              <a:t>8b1f8f7edef8a40153a51e56d3145a203eb212d7/storage/parser.py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a:t>
            </a:r>
            <a:r>
              <a:rPr b="0" lang="ru-RU" sz="2000" strike="noStrike" u="none">
                <a:solidFill>
                  <a:srgbClr val="000000"/>
                </a:solidFill>
                <a:effectLst/>
                <a:uFillTx/>
                <a:latin typeface="Arial"/>
              </a:rPr>
              <a:t>8b1f8f7edef8a40153a51e56d3145a203eb212d7/storage/db.py</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Образовательные решения.pdf, с. 19. Контексты тиражирования — предложение, </a:t>
            </a:r>
            <a:r>
              <a:rPr b="0" lang="ru-RU" sz="2000" strike="noStrike" u="none">
                <a:solidFill>
                  <a:srgbClr val="000000"/>
                </a:solidFill>
                <a:effectLst/>
                <a:uFillTx/>
                <a:latin typeface="Arial"/>
              </a:rPr>
              <a:t>партнёры не заявлены.</a:t>
            </a:r>
            <a:endParaRPr b="0" lang="ru-RU" sz="2000" strike="noStrike" u="none">
              <a:solidFill>
                <a:srgbClr val="000000"/>
              </a:solidFill>
              <a:effectLst/>
              <a:uFillTx/>
              <a:latin typeface="Arial"/>
            </a:endParaRPr>
          </a:p>
        </p:txBody>
      </p:sp>
      <p:sp>
        <p:nvSpPr>
          <p:cNvPr id="206"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0" y="0"/>
            <a:ext cx="0" cy="0"/>
          </a:xfrm>
          <a:prstGeom prst="rect">
            <a:avLst/>
          </a:prstGeom>
          <a:ln w="0">
            <a:noFill/>
          </a:ln>
        </p:spPr>
      </p:sp>
      <p:sp>
        <p:nvSpPr>
          <p:cNvPr id="20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эффект / финал. Ориентир: 30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Мы собрали рабочее ядро образовательного сервиса: упражнения по ФСУ, проверку записи ответа, статистику и материалы для учителя. Ближайший следующий шаг — доработать проверку ответов и подтвердить стабильную работу внутри MAX. Для этого нужно закрыть выявленные ограничения и пройти основной сценарий на мобильном и веб-клиенте. Проверку удобства с учениками и учителями рассматриваем как возможное дальнейшее развитие. Договорённостей со школами, сроков такого запуска и доказанного учебного эффекта сейчас не заявляем.</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Готовы показать сценарий и ответить на вопросы.</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https://github.com/BugFix-develop/MAX-BOT/blob/8b1f8f7edef8a40153a51e56d3145a203eb212d7/README.md</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https://github.com/BugFix-develop/MAX-BOT/blob/8b1f8f7edef8a40153a51e56d3145a203eb212d7/webapp_server.py</a:t>
            </a:r>
            <a:endParaRPr b="0" lang="ru-RU" sz="2000" strike="noStrike" u="none">
              <a:solidFill>
                <a:srgbClr val="000000"/>
              </a:solidFill>
              <a:effectLst/>
              <a:uFillTx/>
              <a:latin typeface="Arial"/>
            </a:endParaRPr>
          </a:p>
        </p:txBody>
      </p:sp>
      <p:sp>
        <p:nvSpPr>
          <p:cNvPr id="209"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0" y="0"/>
            <a:ext cx="0" cy="0"/>
          </a:xfrm>
          <a:prstGeom prst="rect">
            <a:avLst/>
          </a:prstGeom>
          <a:ln w="0">
            <a:noFill/>
          </a:ln>
        </p:spPr>
      </p:sp>
      <p:sp>
        <p:nvSpPr>
          <p:cNvPr id="21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ru-RU" sz="2000" strike="noStrike" u="none">
                <a:solidFill>
                  <a:srgbClr val="000000"/>
                </a:solidFill>
                <a:effectLst/>
                <a:uFillTx/>
                <a:latin typeface="Arial"/>
              </a:rPr>
              <a:t>Роль: по вопросам. Ориентир: 0 сек. Это репетиционный ориентир, не регламент MAX 2026.</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Подробные URL и соответствие утверждений исходникам приведены в заметках к слайдам и отдельном отчёте. Исходный код не изменялся. Ветка main не анализировалась. Выводы о реализации относятся к зафиксированному коммиту step7. Внешний вид подтверждается отдельным скриншотом команды, точный коммит которого не установлен. Прежние снимки из локального запуска удалены со слайдов. Состав команды в репозитории указан по именам: Муслим, Данис, Степан. Название команды, фамилии и учебное заведение требуют заполнения. Изменения относительно онлайн-этапа не установлены, поскольку его зафиксированная версия не предоставлена.</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Переход: При необходимости вернуться к архитектуре, ограничениям или демонстрации.</a:t>
            </a:r>
            <a:endParaRPr b="0" lang="ru-RU" sz="2000" strike="noStrike" u="none">
              <a:solidFill>
                <a:srgbClr val="000000"/>
              </a:solidFill>
              <a:effectLst/>
              <a:uFillTx/>
              <a:latin typeface="Arial"/>
            </a:endParaRPr>
          </a:p>
          <a:p>
            <a:pPr indent="0">
              <a:lnSpc>
                <a:spcPct val="100000"/>
              </a:lnSpc>
              <a:buNone/>
            </a:pP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Источники:</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https://github.com/BugFix-develop/MAX-BOT/tree/8b1f8f7edef8a40153a51e56d3145a203eb212d7</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Образовательные решения.pdf</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https://togirro.ru/upload/medialibrary/5f5/h2ii1u5ps5cphx0cv0u1zw1p9q4ek5fc.pdf</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https://uchi.ru/podgotovka-k-uroku/5-11/7-klass/759_algebra</a:t>
            </a:r>
            <a:endParaRPr b="0" lang="ru-RU" sz="2000" strike="noStrike" u="none">
              <a:solidFill>
                <a:srgbClr val="000000"/>
              </a:solidFill>
              <a:effectLst/>
              <a:uFillTx/>
              <a:latin typeface="Arial"/>
            </a:endParaRPr>
          </a:p>
          <a:p>
            <a:pPr indent="0">
              <a:lnSpc>
                <a:spcPct val="100000"/>
              </a:lnSpc>
              <a:buNone/>
            </a:pPr>
            <a:r>
              <a:rPr b="0" lang="ru-RU" sz="2000" strike="noStrike" u="none">
                <a:solidFill>
                  <a:srgbClr val="000000"/>
                </a:solidFill>
                <a:effectLst/>
                <a:uFillTx/>
                <a:latin typeface="Arial"/>
              </a:rPr>
              <a:t>https://dev.max.ru/docs/webapps/bridge</a:t>
            </a:r>
            <a:endParaRPr b="0" lang="ru-RU" sz="2000" strike="noStrike" u="none">
              <a:solidFill>
                <a:srgbClr val="000000"/>
              </a:solidFill>
              <a:effectLst/>
              <a:uFillTx/>
              <a:latin typeface="Arial"/>
            </a:endParaRPr>
          </a:p>
        </p:txBody>
      </p:sp>
      <p:sp>
        <p:nvSpPr>
          <p:cNvPr id="212"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b="0" lang="ru-RU" sz="1800" strike="noStrike" u="non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8840"/>
            <a:ext cx="10972440" cy="1174680"/>
          </a:xfrm>
          <a:prstGeom prst="rect">
            <a:avLst/>
          </a:prstGeom>
          <a:noFill/>
          <a:ln w="0">
            <a:noFill/>
          </a:ln>
        </p:spPr>
        <p:txBody>
          <a:bodyPr lIns="0" rIns="0" tIns="0" bIns="0" anchor="ctr">
            <a:spAutoFit/>
          </a:bodyPr>
          <a:p>
            <a:pPr indent="0">
              <a:lnSpc>
                <a:spcPct val="90000"/>
              </a:lnSpc>
              <a:buNone/>
            </a:pPr>
            <a:endParaRPr b="0" lang="ru-RU" sz="4400" strike="noStrike" u="none">
              <a:solidFill>
                <a:schemeClr val="dk1"/>
              </a:solidFill>
              <a:effectLst/>
              <a:uFillTx/>
              <a:latin typeface="Calibri Light"/>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ru-RU" sz="3200" strike="noStrike" u="non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nSpc>
                <a:spcPct val="90000"/>
              </a:lnSpc>
              <a:buNone/>
            </a:pPr>
            <a:r>
              <a:rPr b="0" lang="ru-RU" sz="4400" strike="noStrike" u="none">
                <a:solidFill>
                  <a:schemeClr val="dk1"/>
                </a:solidFill>
                <a:effectLst/>
                <a:uFillTx/>
                <a:latin typeface="Calibri Light"/>
              </a:rPr>
              <a:t>Для </a:t>
            </a:r>
            <a:r>
              <a:rPr b="0" lang="ru-RU" sz="4400" strike="noStrike" u="none">
                <a:solidFill>
                  <a:schemeClr val="dk1"/>
                </a:solidFill>
                <a:effectLst/>
                <a:uFillTx/>
                <a:latin typeface="Calibri Light"/>
              </a:rPr>
              <a:t>правки </a:t>
            </a:r>
            <a:r>
              <a:rPr b="0" lang="ru-RU" sz="4400" strike="noStrike" u="none">
                <a:solidFill>
                  <a:schemeClr val="dk1"/>
                </a:solidFill>
                <a:effectLst/>
                <a:uFillTx/>
                <a:latin typeface="Calibri Light"/>
              </a:rPr>
              <a:t>текста </a:t>
            </a:r>
            <a:r>
              <a:rPr b="0" lang="ru-RU" sz="4400" strike="noStrike" u="none">
                <a:solidFill>
                  <a:schemeClr val="dk1"/>
                </a:solidFill>
                <a:effectLst/>
                <a:uFillTx/>
                <a:latin typeface="Calibri Light"/>
              </a:rPr>
              <a:t>заглав</a:t>
            </a:r>
            <a:r>
              <a:rPr b="0" lang="ru-RU" sz="4400" strike="noStrike" u="none">
                <a:solidFill>
                  <a:schemeClr val="dk1"/>
                </a:solidFill>
                <a:effectLst/>
                <a:uFillTx/>
                <a:latin typeface="Calibri Light"/>
              </a:rPr>
              <a:t>ия </a:t>
            </a:r>
            <a:r>
              <a:rPr b="0" lang="ru-RU" sz="4400" strike="noStrike" u="none">
                <a:solidFill>
                  <a:schemeClr val="dk1"/>
                </a:solidFill>
                <a:effectLst/>
                <a:uFillTx/>
                <a:latin typeface="Calibri Light"/>
              </a:rPr>
              <a:t>щёлкн</a:t>
            </a:r>
            <a:r>
              <a:rPr b="0" lang="ru-RU" sz="4400" strike="noStrike" u="none">
                <a:solidFill>
                  <a:schemeClr val="dk1"/>
                </a:solidFill>
                <a:effectLst/>
                <a:uFillTx/>
                <a:latin typeface="Calibri Light"/>
              </a:rPr>
              <a:t>ите </a:t>
            </a:r>
            <a:r>
              <a:rPr b="0" lang="ru-RU" sz="4400" strike="noStrike" u="none">
                <a:solidFill>
                  <a:schemeClr val="dk1"/>
                </a:solidFill>
                <a:effectLst/>
                <a:uFillTx/>
                <a:latin typeface="Calibri Light"/>
              </a:rPr>
              <a:t>мышь</a:t>
            </a:r>
            <a:r>
              <a:rPr b="0" lang="ru-RU" sz="4400" strike="noStrike" u="none">
                <a:solidFill>
                  <a:schemeClr val="dk1"/>
                </a:solidFill>
                <a:effectLst/>
                <a:uFillTx/>
                <a:latin typeface="Calibri Light"/>
              </a:rPr>
              <a:t>ю</a:t>
            </a:r>
            <a:endParaRPr b="0" lang="ru-RU" sz="4400" strike="noStrike" u="none">
              <a:solidFill>
                <a:schemeClr val="dk1"/>
              </a:solidFill>
              <a:effectLst/>
              <a:uFillTx/>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ru-RU" sz="2800" strike="noStrike" u="none">
                <a:solidFill>
                  <a:schemeClr val="dk1"/>
                </a:solidFill>
                <a:effectLst/>
                <a:uFillTx/>
                <a:latin typeface="Calibri"/>
              </a:rPr>
              <a:t>Для правки структуры щёлкните мышью</a:t>
            </a:r>
            <a:endParaRPr b="0" lang="ru-RU" sz="28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ru-RU" sz="2000" strike="noStrike" u="none">
                <a:solidFill>
                  <a:schemeClr val="dk1"/>
                </a:solidFill>
                <a:effectLst/>
                <a:uFillTx/>
                <a:latin typeface="Calibri"/>
              </a:rPr>
              <a:t>Второй уровень структуры</a:t>
            </a:r>
            <a:endParaRPr b="0" lang="ru-RU" sz="20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ru-RU" sz="1800" strike="noStrike" u="none">
                <a:solidFill>
                  <a:schemeClr val="dk1"/>
                </a:solidFill>
                <a:effectLst/>
                <a:uFillTx/>
                <a:latin typeface="Calibri"/>
              </a:rPr>
              <a:t>Третий уровень структуры</a:t>
            </a:r>
            <a:endParaRPr b="0" lang="ru-RU" sz="18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ru-RU" sz="1800" strike="noStrike" u="none">
                <a:solidFill>
                  <a:schemeClr val="dk1"/>
                </a:solidFill>
                <a:effectLst/>
                <a:uFillTx/>
                <a:latin typeface="Calibri"/>
              </a:rPr>
              <a:t>Четвёртый уровень структуры</a:t>
            </a:r>
            <a:endParaRPr b="0" lang="ru-RU" sz="18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ru-RU" sz="2000" strike="noStrike" u="none">
                <a:solidFill>
                  <a:schemeClr val="dk1"/>
                </a:solidFill>
                <a:effectLst/>
                <a:uFillTx/>
                <a:latin typeface="Calibri"/>
              </a:rPr>
              <a:t>Пятый уровень структуры</a:t>
            </a:r>
            <a:endParaRPr b="0" lang="ru-RU" sz="20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ru-RU" sz="2000" strike="noStrike" u="none">
                <a:solidFill>
                  <a:schemeClr val="dk1"/>
                </a:solidFill>
                <a:effectLst/>
                <a:uFillTx/>
                <a:latin typeface="Calibri"/>
              </a:rPr>
              <a:t>Шестой уровень структуры</a:t>
            </a:r>
            <a:endParaRPr b="0" lang="ru-RU" sz="20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ru-RU" sz="2000" strike="noStrike" u="none">
                <a:solidFill>
                  <a:schemeClr val="dk1"/>
                </a:solidFill>
                <a:effectLst/>
                <a:uFillTx/>
                <a:latin typeface="Calibri"/>
              </a:rPr>
              <a:t>Седьмой уровень структуры</a:t>
            </a:r>
            <a:endParaRPr b="0" lang="ru-RU"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hyperlink" Target="https://max.ru/t594_hakaton_max_bot" TargetMode="External"/><Relationship Id="rId2" Type="http://schemas.openxmlformats.org/officeDocument/2006/relationships/hyperlink" Target="https://github.com/BugFix-develop/MAX-BOT/tree/8b1f8f7edef8a40153a51e56d3145a203eb212d7"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BugFix-develop/MAX-BOT/tree/8b1f8f7edef8a40153a51e56d3145a203eb212d7" TargetMode="External"/><Relationship Id="rId2" Type="http://schemas.openxmlformats.org/officeDocument/2006/relationships/hyperlink" Target="https://togirro.ru/upload/medialibrary/5f5/h2ii1u5ps5cphx0cv0u1zw1p9q4ek5fc.pdf" TargetMode="External"/><Relationship Id="rId3" Type="http://schemas.openxmlformats.org/officeDocument/2006/relationships/hyperlink" Target="https://uchi.ru/podgotovka-k-uroku/5-11/7-klass/759_algebra" TargetMode="External"/><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10" name="text-1-0"/>
          <p:cNvSpPr/>
          <p:nvPr/>
        </p:nvSpPr>
        <p:spPr>
          <a:xfrm>
            <a:off x="609480" y="333360"/>
            <a:ext cx="10667520" cy="237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80" strike="noStrike" u="none">
                <a:solidFill>
                  <a:srgbClr val="64616b"/>
                </a:solidFill>
                <a:effectLst/>
                <a:uFillTx/>
                <a:latin typeface="Arial"/>
                <a:ea typeface="Arial"/>
              </a:rPr>
              <a:t>Служебный слайд · не входит в продуктовое выступление</a:t>
            </a:r>
            <a:endParaRPr b="0" lang="ru-RU" sz="1280" strike="noStrike" u="none">
              <a:solidFill>
                <a:srgbClr val="000000"/>
              </a:solidFill>
              <a:effectLst/>
              <a:uFillTx/>
              <a:latin typeface="Arial"/>
            </a:endParaRPr>
          </a:p>
        </p:txBody>
      </p:sp>
      <p:sp>
        <p:nvSpPr>
          <p:cNvPr id="11" name="text-1-1"/>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Доступ для технической проверки</a:t>
            </a:r>
            <a:endParaRPr b="0" lang="ru-RU" sz="3230" strike="noStrike" u="none">
              <a:solidFill>
                <a:srgbClr val="000000"/>
              </a:solidFill>
              <a:effectLst/>
              <a:uFillTx/>
              <a:latin typeface="Arial"/>
            </a:endParaRPr>
          </a:p>
        </p:txBody>
      </p:sp>
      <p:sp>
        <p:nvSpPr>
          <p:cNvPr id="12" name="text-1-2"/>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01</a:t>
            </a:r>
            <a:endParaRPr b="0" lang="ru-RU" sz="1200" strike="noStrike" u="none">
              <a:solidFill>
                <a:srgbClr val="000000"/>
              </a:solidFill>
              <a:effectLst/>
              <a:uFillTx/>
              <a:latin typeface="Arial"/>
            </a:endParaRPr>
          </a:p>
        </p:txBody>
      </p:sp>
      <p:sp>
        <p:nvSpPr>
          <p:cNvPr id="13" name="text-1-3"/>
          <p:cNvSpPr/>
          <p:nvPr/>
        </p:nvSpPr>
        <p:spPr>
          <a:xfrm>
            <a:off x="609480" y="1962000"/>
            <a:ext cx="380952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500" strike="noStrike" u="none">
                <a:solidFill>
                  <a:srgbClr val="64616b"/>
                </a:solidFill>
                <a:effectLst/>
                <a:uFillTx/>
                <a:latin typeface="Arial"/>
                <a:ea typeface="Arial"/>
              </a:rPr>
              <a:t>Чат-бот в MAX</a:t>
            </a:r>
            <a:endParaRPr b="0" lang="ru-RU" sz="1500" strike="noStrike" u="none">
              <a:solidFill>
                <a:srgbClr val="000000"/>
              </a:solidFill>
              <a:effectLst/>
              <a:uFillTx/>
              <a:latin typeface="Arial"/>
            </a:endParaRPr>
          </a:p>
        </p:txBody>
      </p:sp>
      <p:sp>
        <p:nvSpPr>
          <p:cNvPr id="14" name="text-1-4"/>
          <p:cNvSpPr/>
          <p:nvPr/>
        </p:nvSpPr>
        <p:spPr>
          <a:xfrm>
            <a:off x="609480" y="2324160"/>
            <a:ext cx="523836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320" strike="noStrike" u="sng">
                <a:solidFill>
                  <a:srgbClr val="467886"/>
                </a:solidFill>
                <a:effectLst/>
                <a:uFillTx/>
                <a:latin typeface="Arial"/>
                <a:ea typeface="Arial"/>
                <a:hlinkClick r:id="rId1"/>
              </a:rPr>
              <a:t>@t594_hakaton_max_bot</a:t>
            </a:r>
            <a:endParaRPr b="0" lang="ru-RU" sz="2320" strike="noStrike" u="none">
              <a:solidFill>
                <a:srgbClr val="000000"/>
              </a:solidFill>
              <a:effectLst/>
              <a:uFillTx/>
              <a:latin typeface="Arial"/>
            </a:endParaRPr>
          </a:p>
        </p:txBody>
      </p:sp>
      <p:sp>
        <p:nvSpPr>
          <p:cNvPr id="15" name="text-1-5"/>
          <p:cNvSpPr/>
          <p:nvPr/>
        </p:nvSpPr>
        <p:spPr>
          <a:xfrm>
            <a:off x="609480" y="3000240"/>
            <a:ext cx="4762080" cy="2664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500" strike="noStrike" u="none">
                <a:solidFill>
                  <a:srgbClr val="64616b"/>
                </a:solidFill>
                <a:effectLst/>
                <a:uFillTx/>
                <a:latin typeface="Arial"/>
                <a:ea typeface="Arial"/>
              </a:rPr>
              <a:t>Репозиторий и версия</a:t>
            </a:r>
            <a:endParaRPr b="0" lang="ru-RU" sz="1500" strike="noStrike" u="none">
              <a:solidFill>
                <a:srgbClr val="000000"/>
              </a:solidFill>
              <a:effectLst/>
              <a:uFillTx/>
              <a:latin typeface="Arial"/>
            </a:endParaRPr>
          </a:p>
        </p:txBody>
      </p:sp>
      <p:sp>
        <p:nvSpPr>
          <p:cNvPr id="16" name="text-1-6"/>
          <p:cNvSpPr/>
          <p:nvPr/>
        </p:nvSpPr>
        <p:spPr>
          <a:xfrm>
            <a:off x="609480" y="3352680"/>
            <a:ext cx="5905080" cy="3614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sng">
                <a:solidFill>
                  <a:srgbClr val="467886"/>
                </a:solidFill>
                <a:effectLst/>
                <a:uFillTx/>
                <a:latin typeface="Arial"/>
                <a:ea typeface="Arial"/>
                <a:hlinkClick r:id="rId2"/>
              </a:rPr>
              <a:t>BugFix-develop / MAX-BOT · step7</a:t>
            </a:r>
            <a:endParaRPr b="0" lang="ru-RU" sz="2020" strike="noStrike" u="none">
              <a:solidFill>
                <a:srgbClr val="000000"/>
              </a:solidFill>
              <a:effectLst/>
              <a:uFillTx/>
              <a:latin typeface="Arial"/>
            </a:endParaRPr>
          </a:p>
        </p:txBody>
      </p:sp>
      <p:sp>
        <p:nvSpPr>
          <p:cNvPr id="17" name="text-1-7"/>
          <p:cNvSpPr/>
          <p:nvPr/>
        </p:nvSpPr>
        <p:spPr>
          <a:xfrm>
            <a:off x="609480" y="3848040"/>
            <a:ext cx="5905080" cy="342720"/>
          </a:xfrm>
          <a:prstGeom prst="rect">
            <a:avLst/>
          </a:prstGeom>
          <a:noFill/>
          <a:ln w="0">
            <a:noFill/>
          </a:ln>
        </p:spPr>
        <p:style>
          <a:lnRef idx="0"/>
          <a:fillRef idx="0"/>
          <a:effectRef idx="0"/>
          <a:fontRef idx="minor"/>
        </p:style>
        <p:txBody>
          <a:bodyPr lIns="0" rIns="0" tIns="0" bIns="0" anchor="t">
            <a:noAutofit/>
          </a:bodyPr>
          <a:p>
            <a:pPr>
              <a:lnSpc>
                <a:spcPct val="100000"/>
              </a:lnSpc>
            </a:pPr>
            <a:r>
              <a:t>670602c8075ae8c5e2c3779d1058505d146dfc15</a:t>
            </a:r>
            <a:endParaRPr b="0" lang="ru-RU" sz="1500" strike="noStrike" u="none">
              <a:solidFill>
                <a:srgbClr val="000000"/>
              </a:solidFill>
              <a:effectLst/>
              <a:uFillTx/>
              <a:latin typeface="Arial"/>
            </a:endParaRPr>
          </a:p>
        </p:txBody>
      </p:sp>
      <p:sp>
        <p:nvSpPr>
          <p:cNvPr id="18" name="text-1-8"/>
          <p:cNvSpPr/>
          <p:nvPr/>
        </p:nvSpPr>
        <p:spPr>
          <a:xfrm>
            <a:off x="609480" y="4505400"/>
            <a:ext cx="476208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870" strike="noStrike" u="none">
                <a:solidFill>
                  <a:srgbClr val="27252e"/>
                </a:solidFill>
                <a:effectLst/>
                <a:uFillTx/>
                <a:latin typeface="Arial"/>
                <a:ea typeface="Arial"/>
              </a:rPr>
              <a:t>Проверка в чате</a:t>
            </a:r>
            <a:endParaRPr b="0" lang="ru-RU" sz="1870" strike="noStrike" u="none">
              <a:solidFill>
                <a:srgbClr val="000000"/>
              </a:solidFill>
              <a:effectLst/>
              <a:uFillTx/>
              <a:latin typeface="Arial"/>
            </a:endParaRPr>
          </a:p>
        </p:txBody>
      </p:sp>
      <p:sp>
        <p:nvSpPr>
          <p:cNvPr id="19" name="text-1-9"/>
          <p:cNvSpPr/>
          <p:nvPr/>
        </p:nvSpPr>
        <p:spPr>
          <a:xfrm>
            <a:off x="609480" y="4943520"/>
            <a:ext cx="5619240" cy="809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870" strike="noStrike" u="none">
                <a:solidFill>
                  <a:srgbClr val="27252e"/>
                </a:solidFill>
                <a:effectLst/>
                <a:uFillTx/>
                <a:latin typeface="Arial"/>
                <a:ea typeface="Arial"/>
              </a:rPr>
              <a:t>/start   →   /task   →   ответ   →   /stats</a:t>
            </a:r>
            <a:endParaRPr b="0" lang="ru-RU" sz="1870" strike="noStrike" u="none">
              <a:solidFill>
                <a:srgbClr val="000000"/>
              </a:solidFill>
              <a:effectLst/>
              <a:uFillTx/>
              <a:latin typeface="Arial"/>
            </a:endParaRPr>
          </a:p>
          <a:p>
            <a:pPr>
              <a:lnSpc>
                <a:spcPct val="100000"/>
              </a:lnSpc>
            </a:pPr>
            <a:r>
              <a:rPr b="0" lang="ru-RU" sz="1870" strike="noStrike" u="none">
                <a:solidFill>
                  <a:srgbClr val="27252e"/>
                </a:solidFill>
                <a:effectLst/>
                <a:uFillTx/>
                <a:latin typeface="Arial"/>
                <a:ea typeface="Arial"/>
              </a:rPr>
              <a:t>/lesson для материалов учителя</a:t>
            </a:r>
            <a:endParaRPr b="0" lang="ru-RU" sz="1870" strike="noStrike" u="none">
              <a:solidFill>
                <a:srgbClr val="000000"/>
              </a:solidFill>
              <a:effectLst/>
              <a:uFillTx/>
              <a:latin typeface="Arial"/>
            </a:endParaRPr>
          </a:p>
        </p:txBody>
      </p:sp>
      <p:sp>
        <p:nvSpPr>
          <p:cNvPr id="20" name="text-1-10"/>
          <p:cNvSpPr/>
          <p:nvPr/>
        </p:nvSpPr>
        <p:spPr>
          <a:xfrm>
            <a:off x="6953400" y="1971720"/>
            <a:ext cx="4571640" cy="571320"/>
          </a:xfrm>
          <a:prstGeom prst="rect">
            <a:avLst/>
          </a:prstGeom>
          <a:noFill/>
          <a:ln w="0">
            <a:noFill/>
          </a:ln>
        </p:spPr>
        <p:style>
          <a:lnRef idx="0"/>
          <a:fillRef idx="0"/>
          <a:effectRef idx="0"/>
          <a:fontRef idx="minor"/>
        </p:style>
        <p:txBody>
          <a:bodyPr lIns="0" rIns="0" tIns="0" bIns="0" anchor="t">
            <a:noAutofit/>
          </a:bodyPr>
          <a:p>
            <a:pPr>
              <a:lnSpc>
                <a:spcPct val="100000"/>
              </a:lnSpc>
            </a:pPr>
            <a:r>
              <a:t>Проверяемый API и тестовые учетные записи</a:t>
            </a:r>
            <a:endParaRPr b="0" lang="ru-RU" sz="2100" strike="noStrike" u="none">
              <a:solidFill>
                <a:srgbClr val="000000"/>
              </a:solidFill>
              <a:effectLst/>
              <a:uFillTx/>
              <a:latin typeface="Arial"/>
            </a:endParaRPr>
          </a:p>
        </p:txBody>
      </p:sp>
      <p:sp>
        <p:nvSpPr>
          <p:cNvPr id="21" name="text-1-11"/>
          <p:cNvSpPr/>
          <p:nvPr/>
        </p:nvSpPr>
        <p:spPr>
          <a:xfrm>
            <a:off x="6953400" y="2800440"/>
            <a:ext cx="4571640" cy="856800"/>
          </a:xfrm>
          <a:prstGeom prst="rect">
            <a:avLst/>
          </a:prstGeom>
          <a:noFill/>
          <a:ln w="0">
            <a:noFill/>
          </a:ln>
        </p:spPr>
        <p:style>
          <a:lnRef idx="0"/>
          <a:fillRef idx="0"/>
          <a:effectRef idx="0"/>
          <a:fontRef idx="minor"/>
        </p:style>
        <p:txBody>
          <a:bodyPr lIns="0" rIns="0" tIns="0" bIns="0" anchor="t">
            <a:noAutofit/>
          </a:bodyPr>
          <a:p>
            <a:pPr>
              <a:lnSpc>
                <a:spcPct val="100000"/>
              </a:lnSpc>
            </a:pPr>
            <a:r>
              <a:t>HTTPS API: https://135.106.228.49.nip.io (TLS Let's Encrypt)</a:t>
            </a:r>
            <a:endParaRPr b="0" lang="ru-RU" sz="1870" strike="noStrike" u="none">
              <a:solidFill>
                <a:srgbClr val="000000"/>
              </a:solidFill>
              <a:effectLst/>
              <a:uFillTx/>
              <a:latin typeface="Arial"/>
            </a:endParaRPr>
          </a:p>
          <a:p>
            <a:pPr>
              <a:lnSpc>
                <a:spcPct val="100000"/>
              </a:lnSpc>
            </a:pPr>
            <a:r>
              <a:t>Тестовые роли: Ученик (ID 119647896), Учитель (teacher_jury_test)</a:t>
            </a:r>
            <a:endParaRPr b="0" lang="ru-RU" sz="1870" strike="noStrike" u="none">
              <a:solidFill>
                <a:srgbClr val="000000"/>
              </a:solidFill>
              <a:effectLst/>
              <a:uFillTx/>
              <a:latin typeface="Arial"/>
            </a:endParaRPr>
          </a:p>
        </p:txBody>
      </p:sp>
      <p:sp>
        <p:nvSpPr>
          <p:cNvPr id="22" name="text-1-12"/>
          <p:cNvSpPr/>
          <p:nvPr/>
        </p:nvSpPr>
        <p:spPr>
          <a:xfrm>
            <a:off x="6953400" y="3905280"/>
            <a:ext cx="4285800" cy="1523520"/>
          </a:xfrm>
          <a:prstGeom prst="rect">
            <a:avLst/>
          </a:prstGeom>
          <a:noFill/>
          <a:ln w="0">
            <a:noFill/>
          </a:ln>
        </p:spPr>
        <p:style>
          <a:lnRef idx="0"/>
          <a:fillRef idx="0"/>
          <a:effectRef idx="0"/>
          <a:fontRef idx="minor"/>
        </p:style>
        <p:txBody>
          <a:bodyPr lIns="0" rIns="0" tIns="0" bIns="0" anchor="t">
            <a:noAutofit/>
          </a:bodyPr>
          <a:p>
            <a:pPr>
              <a:lnSpc>
                <a:spcPct val="100000"/>
              </a:lnSpc>
            </a:pPr>
            <a:r>
              <a:t>Токен MAX_BOT_TOKEN: передан в закрытой форме сдачи хакатона.</a:t>
            </a:r>
            <a:endParaRPr b="0" lang="ru-RU" sz="1800" strike="noStrike" u="none">
              <a:solidFill>
                <a:srgbClr val="000000"/>
              </a:solidFill>
              <a:effectLst/>
              <a:uFillTx/>
              <a:latin typeface="Arial"/>
            </a:endParaRPr>
          </a:p>
          <a:p>
            <a:pPr>
              <a:lnSpc>
                <a:spcPct val="100000"/>
              </a:lnSpc>
            </a:pPr>
            <a:r>
              <a:t>Спецификации для жюри: openapi.yaml, DATA-API.yaml, test_accounts.json.</a:t>
            </a:r>
            <a:endParaRPr b="0" lang="ru-RU" sz="1800" strike="noStrike" u="none">
              <a:solidFill>
                <a:srgbClr val="000000"/>
              </a:solidFill>
              <a:effectLst/>
              <a:uFillTx/>
              <a:latin typeface="Arial"/>
            </a:endParaRPr>
          </a:p>
          <a:p>
            <a:pPr>
              <a:lnSpc>
                <a:spcPct val="100000"/>
              </a:lnSpc>
            </a:pPr>
            <a:r>
              <a:t>Сервер на Cloud.ru: бот, Caddy HTTPS и WebApp развёрнуты 24/7.</a:t>
            </a:r>
            <a:endParaRPr b="0" lang="ru-RU"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0213f"/>
        </a:solidFill>
      </p:bgPr>
    </p:bg>
    <p:spTree>
      <p:nvGrpSpPr>
        <p:cNvPr id="1" name=""/>
        <p:cNvGrpSpPr/>
        <p:nvPr/>
      </p:nvGrpSpPr>
      <p:grpSpPr>
        <a:xfrm>
          <a:off x="0" y="0"/>
          <a:ext cx="0" cy="0"/>
          <a:chOff x="0" y="0"/>
          <a:chExt cx="0" cy="0"/>
        </a:xfrm>
      </p:grpSpPr>
      <p:sp>
        <p:nvSpPr>
          <p:cNvPr id="23" name="text-2-13"/>
          <p:cNvSpPr/>
          <p:nvPr/>
        </p:nvSpPr>
        <p:spPr>
          <a:xfrm>
            <a:off x="609480" y="333360"/>
            <a:ext cx="10667520" cy="237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80" strike="noStrike" u="none">
                <a:solidFill>
                  <a:srgbClr val="d1c6dc"/>
                </a:solidFill>
                <a:effectLst/>
                <a:uFillTx/>
                <a:latin typeface="Arial"/>
                <a:ea typeface="Arial"/>
              </a:rPr>
              <a:t>MAX 2026 · трек «Образовательные решения»</a:t>
            </a:r>
            <a:endParaRPr b="0" lang="ru-RU" sz="1280" strike="noStrike" u="none">
              <a:solidFill>
                <a:srgbClr val="ffffff"/>
              </a:solidFill>
              <a:effectLst/>
              <a:uFillTx/>
              <a:latin typeface="Arial"/>
            </a:endParaRPr>
          </a:p>
        </p:txBody>
      </p:sp>
      <p:sp>
        <p:nvSpPr>
          <p:cNvPr id="24" name="text-2-14"/>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ffffff"/>
                </a:solidFill>
                <a:effectLst/>
                <a:uFillTx/>
                <a:latin typeface="Arial"/>
                <a:ea typeface="Arial"/>
              </a:rPr>
              <a:t>Тренажёр </a:t>
            </a:r>
            <a:endParaRPr b="0" lang="ru-RU" sz="3230" strike="noStrike" u="none">
              <a:solidFill>
                <a:srgbClr val="ffffff"/>
              </a:solidFill>
              <a:effectLst/>
              <a:uFillTx/>
              <a:latin typeface="Arial"/>
            </a:endParaRPr>
          </a:p>
        </p:txBody>
      </p:sp>
      <p:sp>
        <p:nvSpPr>
          <p:cNvPr id="25" name="text-2-15"/>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d1c6dc"/>
                </a:solidFill>
                <a:effectLst/>
                <a:uFillTx/>
                <a:latin typeface="Arial"/>
                <a:ea typeface="Arial"/>
              </a:rPr>
              <a:t>02</a:t>
            </a:r>
            <a:endParaRPr b="0" lang="ru-RU" sz="1200" strike="noStrike" u="none">
              <a:solidFill>
                <a:srgbClr val="ffffff"/>
              </a:solidFill>
              <a:effectLst/>
              <a:uFillTx/>
              <a:latin typeface="Arial"/>
            </a:endParaRPr>
          </a:p>
        </p:txBody>
      </p:sp>
      <p:sp>
        <p:nvSpPr>
          <p:cNvPr id="26" name="text-2-16"/>
          <p:cNvSpPr/>
          <p:nvPr/>
        </p:nvSpPr>
        <p:spPr>
          <a:xfrm>
            <a:off x="609480" y="2085840"/>
            <a:ext cx="7905240" cy="1561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4350" strike="noStrike" u="none">
                <a:solidFill>
                  <a:srgbClr val="ffffff"/>
                </a:solidFill>
                <a:effectLst/>
                <a:uFillTx/>
                <a:latin typeface="Arial"/>
                <a:ea typeface="Arial"/>
              </a:rPr>
              <a:t>Практика алгебры</a:t>
            </a:r>
            <a:endParaRPr b="0" lang="ru-RU" sz="4350" strike="noStrike" u="none">
              <a:solidFill>
                <a:srgbClr val="ffffff"/>
              </a:solidFill>
              <a:effectLst/>
              <a:uFillTx/>
              <a:latin typeface="Arial"/>
            </a:endParaRPr>
          </a:p>
          <a:p>
            <a:pPr>
              <a:lnSpc>
                <a:spcPct val="100000"/>
              </a:lnSpc>
            </a:pPr>
            <a:r>
              <a:rPr b="1" lang="ru-RU" sz="4350" strike="noStrike" u="none">
                <a:solidFill>
                  <a:srgbClr val="ffffff"/>
                </a:solidFill>
                <a:effectLst/>
                <a:uFillTx/>
                <a:latin typeface="Arial"/>
                <a:ea typeface="Arial"/>
              </a:rPr>
              <a:t>рядом с учебным чатом</a:t>
            </a:r>
            <a:endParaRPr b="0" lang="ru-RU" sz="4350" strike="noStrike" u="none">
              <a:solidFill>
                <a:srgbClr val="ffffff"/>
              </a:solidFill>
              <a:effectLst/>
              <a:uFillTx/>
              <a:latin typeface="Arial"/>
            </a:endParaRPr>
          </a:p>
        </p:txBody>
      </p:sp>
      <p:sp>
        <p:nvSpPr>
          <p:cNvPr id="27" name="text-2-17"/>
          <p:cNvSpPr/>
          <p:nvPr/>
        </p:nvSpPr>
        <p:spPr>
          <a:xfrm>
            <a:off x="609480" y="4114800"/>
            <a:ext cx="8572320" cy="4284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250" strike="noStrike" u="none">
                <a:solidFill>
                  <a:srgbClr val="d1c6dc"/>
                </a:solidFill>
                <a:effectLst/>
                <a:uFillTx/>
                <a:latin typeface="Arial"/>
                <a:ea typeface="Arial"/>
              </a:rPr>
              <a:t>Для учеников и учителей </a:t>
            </a:r>
            <a:endParaRPr b="0" lang="ru-RU" sz="2250" strike="noStrike" u="none">
              <a:solidFill>
                <a:srgbClr val="ffffff"/>
              </a:solidFill>
              <a:effectLst/>
              <a:uFillTx/>
              <a:latin typeface="Arial"/>
            </a:endParaRPr>
          </a:p>
        </p:txBody>
      </p:sp>
      <p:sp>
        <p:nvSpPr>
          <p:cNvPr id="28" name="text-2-18"/>
          <p:cNvSpPr/>
          <p:nvPr/>
        </p:nvSpPr>
        <p:spPr>
          <a:xfrm>
            <a:off x="609480" y="4829040"/>
            <a:ext cx="9524520" cy="333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800" strike="noStrike" u="none">
                <a:solidFill>
                  <a:srgbClr val="d1c6dc"/>
                </a:solidFill>
                <a:effectLst/>
                <a:uFillTx/>
                <a:latin typeface="Arial"/>
                <a:ea typeface="Arial"/>
              </a:rPr>
              <a:t>Проект «Образовательные решения»</a:t>
            </a:r>
            <a:endParaRPr b="0" lang="ru-RU" sz="1800" strike="noStrike" u="none">
              <a:solidFill>
                <a:srgbClr val="ffffff"/>
              </a:solidFill>
              <a:effectLst/>
              <a:uFillTx/>
              <a:latin typeface="Arial"/>
            </a:endParaRPr>
          </a:p>
        </p:txBody>
      </p:sp>
      <p:sp>
        <p:nvSpPr>
          <p:cNvPr id="29" name="text-2-19"/>
          <p:cNvSpPr/>
          <p:nvPr/>
        </p:nvSpPr>
        <p:spPr>
          <a:xfrm>
            <a:off x="609480" y="5638680"/>
            <a:ext cx="10572480" cy="428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ffffff"/>
                </a:solidFill>
                <a:effectLst/>
                <a:uFillTx/>
                <a:latin typeface="Arial"/>
                <a:ea typeface="Arial"/>
              </a:rPr>
              <a:t>Команда Gubkin’s Team ·  Муслим, Данис, Степан</a:t>
            </a:r>
            <a:endParaRPr b="0" lang="ru-RU" sz="202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30" name="text-3-20"/>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Ошибка в формуле требует быстрой обратной связи</a:t>
            </a:r>
            <a:endParaRPr b="0" lang="ru-RU" sz="3230" strike="noStrike" u="none">
              <a:solidFill>
                <a:srgbClr val="000000"/>
              </a:solidFill>
              <a:effectLst/>
              <a:uFillTx/>
              <a:latin typeface="Arial"/>
            </a:endParaRPr>
          </a:p>
        </p:txBody>
      </p:sp>
      <p:sp>
        <p:nvSpPr>
          <p:cNvPr id="31" name="text-3-21"/>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03</a:t>
            </a:r>
            <a:endParaRPr b="0" lang="ru-RU" sz="1200" strike="noStrike" u="none">
              <a:solidFill>
                <a:srgbClr val="000000"/>
              </a:solidFill>
              <a:effectLst/>
              <a:uFillTx/>
              <a:latin typeface="Arial"/>
            </a:endParaRPr>
          </a:p>
        </p:txBody>
      </p:sp>
      <p:sp>
        <p:nvSpPr>
          <p:cNvPr id="32" name="text-3-22"/>
          <p:cNvSpPr/>
          <p:nvPr/>
        </p:nvSpPr>
        <p:spPr>
          <a:xfrm>
            <a:off x="609480" y="2048040"/>
            <a:ext cx="952452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250" strike="noStrike" u="none">
                <a:solidFill>
                  <a:srgbClr val="64616b"/>
                </a:solidFill>
                <a:effectLst/>
                <a:uFillTx/>
                <a:latin typeface="Arial"/>
                <a:ea typeface="Arial"/>
              </a:rPr>
              <a:t>Семиклассник закрепляет тему после урока</a:t>
            </a:r>
            <a:endParaRPr b="0" lang="ru-RU" sz="2250" strike="noStrike" u="none">
              <a:solidFill>
                <a:srgbClr val="000000"/>
              </a:solidFill>
              <a:effectLst/>
              <a:uFillTx/>
              <a:latin typeface="Arial"/>
            </a:endParaRPr>
          </a:p>
        </p:txBody>
      </p:sp>
      <p:sp>
        <p:nvSpPr>
          <p:cNvPr id="33" name="text-3-23"/>
          <p:cNvSpPr/>
          <p:nvPr/>
        </p:nvSpPr>
        <p:spPr>
          <a:xfrm>
            <a:off x="609480" y="2867040"/>
            <a:ext cx="4095360" cy="8568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4880" strike="noStrike" u="none">
                <a:solidFill>
                  <a:srgbClr val="27252e"/>
                </a:solidFill>
                <a:effectLst/>
                <a:uFillTx/>
                <a:latin typeface="Arial"/>
                <a:ea typeface="Arial"/>
              </a:rPr>
              <a:t>(a + b)²</a:t>
            </a:r>
            <a:endParaRPr b="0" lang="ru-RU" sz="4880" strike="noStrike" u="none">
              <a:solidFill>
                <a:srgbClr val="000000"/>
              </a:solidFill>
              <a:effectLst/>
              <a:uFillTx/>
              <a:latin typeface="Arial"/>
            </a:endParaRPr>
          </a:p>
        </p:txBody>
      </p:sp>
      <p:sp>
        <p:nvSpPr>
          <p:cNvPr id="34" name="text-3-24"/>
          <p:cNvSpPr/>
          <p:nvPr/>
        </p:nvSpPr>
        <p:spPr>
          <a:xfrm>
            <a:off x="6286680" y="2867040"/>
            <a:ext cx="4571640" cy="8568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4880" strike="noStrike" u="none">
                <a:solidFill>
                  <a:srgbClr val="c74662"/>
                </a:solidFill>
                <a:effectLst/>
                <a:uFillTx/>
                <a:latin typeface="Arial"/>
                <a:ea typeface="Arial"/>
              </a:rPr>
              <a:t>a² + b²</a:t>
            </a:r>
            <a:endParaRPr b="0" lang="ru-RU" sz="4880" strike="noStrike" u="none">
              <a:solidFill>
                <a:srgbClr val="000000"/>
              </a:solidFill>
              <a:effectLst/>
              <a:uFillTx/>
              <a:latin typeface="Arial"/>
            </a:endParaRPr>
          </a:p>
        </p:txBody>
      </p:sp>
      <p:sp>
        <p:nvSpPr>
          <p:cNvPr id="35" name="text-3-25"/>
          <p:cNvSpPr/>
          <p:nvPr/>
        </p:nvSpPr>
        <p:spPr>
          <a:xfrm>
            <a:off x="609480" y="3828960"/>
            <a:ext cx="40003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800" strike="noStrike" u="none">
                <a:solidFill>
                  <a:srgbClr val="64616b"/>
                </a:solidFill>
                <a:effectLst/>
                <a:uFillTx/>
                <a:latin typeface="Arial"/>
                <a:ea typeface="Arial"/>
              </a:rPr>
              <a:t>Задание</a:t>
            </a:r>
            <a:endParaRPr b="0" lang="ru-RU" sz="1800" strike="noStrike" u="none">
              <a:solidFill>
                <a:srgbClr val="000000"/>
              </a:solidFill>
              <a:effectLst/>
              <a:uFillTx/>
              <a:latin typeface="Arial"/>
            </a:endParaRPr>
          </a:p>
        </p:txBody>
      </p:sp>
      <p:sp>
        <p:nvSpPr>
          <p:cNvPr id="36" name="text-3-26"/>
          <p:cNvSpPr/>
          <p:nvPr/>
        </p:nvSpPr>
        <p:spPr>
          <a:xfrm>
            <a:off x="6286680" y="3828960"/>
            <a:ext cx="4857480" cy="68544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870" strike="noStrike" u="none">
                <a:solidFill>
                  <a:srgbClr val="64616b"/>
                </a:solidFill>
                <a:effectLst/>
                <a:uFillTx/>
                <a:latin typeface="Arial"/>
                <a:ea typeface="Arial"/>
              </a:rPr>
              <a:t>Пропущено удвоенное произведение</a:t>
            </a:r>
            <a:endParaRPr b="0" lang="ru-RU" sz="1870" strike="noStrike" u="none">
              <a:solidFill>
                <a:srgbClr val="000000"/>
              </a:solidFill>
              <a:effectLst/>
              <a:uFillTx/>
              <a:latin typeface="Arial"/>
            </a:endParaRPr>
          </a:p>
        </p:txBody>
      </p:sp>
      <p:sp>
        <p:nvSpPr>
          <p:cNvPr id="37" name="text-3-27"/>
          <p:cNvSpPr/>
          <p:nvPr/>
        </p:nvSpPr>
        <p:spPr>
          <a:xfrm>
            <a:off x="609480" y="4915080"/>
            <a:ext cx="10762920" cy="742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400" strike="noStrike" u="none">
                <a:solidFill>
                  <a:srgbClr val="4e306d"/>
                </a:solidFill>
                <a:effectLst/>
                <a:uFillTx/>
                <a:latin typeface="Arial"/>
                <a:ea typeface="Arial"/>
              </a:rPr>
              <a:t>Неверное применение ФСУ отмечено среди типичных ошибок ОГЭ 2025</a:t>
            </a:r>
            <a:endParaRPr b="0" lang="ru-RU" sz="2400" strike="noStrike" u="none">
              <a:solidFill>
                <a:srgbClr val="000000"/>
              </a:solidFill>
              <a:effectLst/>
              <a:uFillTx/>
              <a:latin typeface="Arial"/>
            </a:endParaRPr>
          </a:p>
        </p:txBody>
      </p:sp>
      <p:sp>
        <p:nvSpPr>
          <p:cNvPr id="38" name="text-3-28"/>
          <p:cNvSpPr/>
          <p:nvPr/>
        </p:nvSpPr>
        <p:spPr>
          <a:xfrm>
            <a:off x="609480" y="5962680"/>
            <a:ext cx="10382040" cy="39024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350" strike="noStrike" u="none">
                <a:solidFill>
                  <a:srgbClr val="64616b"/>
                </a:solidFill>
                <a:effectLst/>
                <a:uFillTx/>
                <a:latin typeface="Arial"/>
                <a:ea typeface="Arial"/>
              </a:rPr>
              <a:t>Источник: ТОГИРРО, методические материалы 2025, с. 9. Частоту ошибки у нашей аудитории ещё предстоит измерить.</a:t>
            </a:r>
            <a:endParaRPr b="0" lang="ru-RU" sz="13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39" name="text-4-29"/>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Задача, ответ и результат в одном сценарии</a:t>
            </a:r>
            <a:endParaRPr b="0" lang="ru-RU" sz="3230" strike="noStrike" u="none">
              <a:solidFill>
                <a:srgbClr val="000000"/>
              </a:solidFill>
              <a:effectLst/>
              <a:uFillTx/>
              <a:latin typeface="Arial"/>
            </a:endParaRPr>
          </a:p>
        </p:txBody>
      </p:sp>
      <p:sp>
        <p:nvSpPr>
          <p:cNvPr id="40" name="text-4-30"/>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04</a:t>
            </a:r>
            <a:endParaRPr b="0" lang="ru-RU" sz="1200" strike="noStrike" u="none">
              <a:solidFill>
                <a:srgbClr val="000000"/>
              </a:solidFill>
              <a:effectLst/>
              <a:uFillTx/>
              <a:latin typeface="Arial"/>
            </a:endParaRPr>
          </a:p>
        </p:txBody>
      </p:sp>
      <p:sp>
        <p:nvSpPr>
          <p:cNvPr id="41" name="text-4-31"/>
          <p:cNvSpPr/>
          <p:nvPr/>
        </p:nvSpPr>
        <p:spPr>
          <a:xfrm>
            <a:off x="609480" y="1971720"/>
            <a:ext cx="10572480" cy="914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170" strike="noStrike" u="none">
                <a:solidFill>
                  <a:srgbClr val="64616b"/>
                </a:solidFill>
                <a:effectLst/>
                <a:uFillTx/>
                <a:latin typeface="Arial"/>
                <a:ea typeface="Arial"/>
              </a:rPr>
              <a:t>Бот выдаёт упражнение по ФСУ и проверяет запись ответа.</a:t>
            </a:r>
            <a:endParaRPr b="0" lang="ru-RU" sz="2170" strike="noStrike" u="none">
              <a:solidFill>
                <a:srgbClr val="000000"/>
              </a:solidFill>
              <a:effectLst/>
              <a:uFillTx/>
              <a:latin typeface="Arial"/>
            </a:endParaRPr>
          </a:p>
          <a:p>
            <a:pPr>
              <a:lnSpc>
                <a:spcPct val="100000"/>
              </a:lnSpc>
            </a:pPr>
            <a:r>
              <a:rPr b="0" lang="ru-RU" sz="2170" strike="noStrike" u="none">
                <a:solidFill>
                  <a:srgbClr val="64616b"/>
                </a:solidFill>
                <a:effectLst/>
                <a:uFillTx/>
                <a:latin typeface="Arial"/>
                <a:ea typeface="Arial"/>
              </a:rPr>
              <a:t>Веб-интерфейс добавляет математическую клавиатуру и каталог шаблонов.</a:t>
            </a:r>
            <a:endParaRPr b="0" lang="ru-RU" sz="2170" strike="noStrike" u="none">
              <a:solidFill>
                <a:srgbClr val="000000"/>
              </a:solidFill>
              <a:effectLst/>
              <a:uFillTx/>
              <a:latin typeface="Arial"/>
            </a:endParaRPr>
          </a:p>
        </p:txBody>
      </p:sp>
      <p:sp>
        <p:nvSpPr>
          <p:cNvPr id="42" name=""/>
          <p:cNvSpPr/>
          <p:nvPr/>
        </p:nvSpPr>
        <p:spPr>
          <a:xfrm>
            <a:off x="609480" y="3448080"/>
            <a:ext cx="2400120" cy="158076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3" name="text-4-32"/>
          <p:cNvSpPr/>
          <p:nvPr/>
        </p:nvSpPr>
        <p:spPr>
          <a:xfrm>
            <a:off x="800280" y="3610080"/>
            <a:ext cx="201888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01  Вход</a:t>
            </a:r>
            <a:endParaRPr b="0" lang="ru-RU" sz="2020" strike="noStrike" u="none">
              <a:solidFill>
                <a:srgbClr val="000000"/>
              </a:solidFill>
              <a:effectLst/>
              <a:uFillTx/>
              <a:latin typeface="Arial"/>
            </a:endParaRPr>
          </a:p>
        </p:txBody>
      </p:sp>
      <p:sp>
        <p:nvSpPr>
          <p:cNvPr id="44" name="text-4-33"/>
          <p:cNvSpPr/>
          <p:nvPr/>
        </p:nvSpPr>
        <p:spPr>
          <a:xfrm>
            <a:off x="800280" y="4057560"/>
            <a:ext cx="2018880" cy="856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Чат-бот MAX</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/start</a:t>
            </a:r>
            <a:endParaRPr b="0" lang="ru-RU" sz="1650" strike="noStrike" u="none">
              <a:solidFill>
                <a:srgbClr val="000000"/>
              </a:solidFill>
              <a:effectLst/>
              <a:uFillTx/>
              <a:latin typeface="Arial"/>
            </a:endParaRPr>
          </a:p>
        </p:txBody>
      </p:sp>
      <p:sp>
        <p:nvSpPr>
          <p:cNvPr id="45" name=""/>
          <p:cNvSpPr/>
          <p:nvPr/>
        </p:nvSpPr>
        <p:spPr>
          <a:xfrm>
            <a:off x="3467160" y="3448080"/>
            <a:ext cx="2400120" cy="158076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6" name="text-4-34"/>
          <p:cNvSpPr/>
          <p:nvPr/>
        </p:nvSpPr>
        <p:spPr>
          <a:xfrm>
            <a:off x="3657600" y="3610080"/>
            <a:ext cx="201888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02  Практика</a:t>
            </a:r>
            <a:endParaRPr b="0" lang="ru-RU" sz="2020" strike="noStrike" u="none">
              <a:solidFill>
                <a:srgbClr val="000000"/>
              </a:solidFill>
              <a:effectLst/>
              <a:uFillTx/>
              <a:latin typeface="Arial"/>
            </a:endParaRPr>
          </a:p>
        </p:txBody>
      </p:sp>
      <p:sp>
        <p:nvSpPr>
          <p:cNvPr id="47" name="text-4-35"/>
          <p:cNvSpPr/>
          <p:nvPr/>
        </p:nvSpPr>
        <p:spPr>
          <a:xfrm>
            <a:off x="3657600" y="4057560"/>
            <a:ext cx="2018880" cy="856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/task в чате</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или /app</a:t>
            </a:r>
            <a:endParaRPr b="0" lang="ru-RU" sz="1650" strike="noStrike" u="none">
              <a:solidFill>
                <a:srgbClr val="000000"/>
              </a:solidFill>
              <a:effectLst/>
              <a:uFillTx/>
              <a:latin typeface="Arial"/>
            </a:endParaRPr>
          </a:p>
        </p:txBody>
      </p:sp>
      <p:sp>
        <p:nvSpPr>
          <p:cNvPr id="48" name=""/>
          <p:cNvSpPr/>
          <p:nvPr/>
        </p:nvSpPr>
        <p:spPr>
          <a:xfrm>
            <a:off x="6324480" y="3448080"/>
            <a:ext cx="2400120" cy="158076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9" name="text-4-36"/>
          <p:cNvSpPr/>
          <p:nvPr/>
        </p:nvSpPr>
        <p:spPr>
          <a:xfrm>
            <a:off x="6515280" y="3610080"/>
            <a:ext cx="201888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03  Проверка</a:t>
            </a:r>
            <a:endParaRPr b="0" lang="ru-RU" sz="2020" strike="noStrike" u="none">
              <a:solidFill>
                <a:srgbClr val="000000"/>
              </a:solidFill>
              <a:effectLst/>
              <a:uFillTx/>
              <a:latin typeface="Arial"/>
            </a:endParaRPr>
          </a:p>
        </p:txBody>
      </p:sp>
      <p:sp>
        <p:nvSpPr>
          <p:cNvPr id="50" name="text-4-37"/>
          <p:cNvSpPr/>
          <p:nvPr/>
        </p:nvSpPr>
        <p:spPr>
          <a:xfrm>
            <a:off x="6515280" y="4057560"/>
            <a:ext cx="2018880" cy="856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Ответ ученика</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Сравнение с эталоном</a:t>
            </a:r>
            <a:endParaRPr b="0" lang="ru-RU" sz="1650" strike="noStrike" u="none">
              <a:solidFill>
                <a:srgbClr val="000000"/>
              </a:solidFill>
              <a:effectLst/>
              <a:uFillTx/>
              <a:latin typeface="Arial"/>
            </a:endParaRPr>
          </a:p>
        </p:txBody>
      </p:sp>
      <p:sp>
        <p:nvSpPr>
          <p:cNvPr id="51" name=""/>
          <p:cNvSpPr/>
          <p:nvPr/>
        </p:nvSpPr>
        <p:spPr>
          <a:xfrm>
            <a:off x="9182160" y="3448080"/>
            <a:ext cx="2400120" cy="158076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52" name="text-4-38"/>
          <p:cNvSpPr/>
          <p:nvPr/>
        </p:nvSpPr>
        <p:spPr>
          <a:xfrm>
            <a:off x="9372600" y="3610080"/>
            <a:ext cx="201888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04  Результат</a:t>
            </a:r>
            <a:endParaRPr b="0" lang="ru-RU" sz="2020" strike="noStrike" u="none">
              <a:solidFill>
                <a:srgbClr val="000000"/>
              </a:solidFill>
              <a:effectLst/>
              <a:uFillTx/>
              <a:latin typeface="Arial"/>
            </a:endParaRPr>
          </a:p>
        </p:txBody>
      </p:sp>
      <p:sp>
        <p:nvSpPr>
          <p:cNvPr id="53" name="text-4-39"/>
          <p:cNvSpPr/>
          <p:nvPr/>
        </p:nvSpPr>
        <p:spPr>
          <a:xfrm>
            <a:off x="9372600" y="4057560"/>
            <a:ext cx="2018880" cy="856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Статистика</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Следующая задача</a:t>
            </a:r>
            <a:endParaRPr b="0" lang="ru-RU" sz="1650" strike="noStrike" u="none">
              <a:solidFill>
                <a:srgbClr val="000000"/>
              </a:solidFill>
              <a:effectLst/>
              <a:uFillTx/>
              <a:latin typeface="Arial"/>
            </a:endParaRPr>
          </a:p>
        </p:txBody>
      </p:sp>
      <p:cxnSp>
        <p:nvCxnSpPr>
          <p:cNvPr id="54" name=""/>
          <p:cNvCxnSpPr>
            <a:stCxn id="42" idx="3"/>
            <a:endCxn id="45" idx="1"/>
          </p:cNvCxnSpPr>
          <p:nvPr/>
        </p:nvCxnSpPr>
        <p:spPr>
          <a:xfrm>
            <a:off x="3009600" y="4238280"/>
            <a:ext cx="457920" cy="360"/>
          </a:xfrm>
          <a:prstGeom prst="straightConnector1">
            <a:avLst/>
          </a:prstGeom>
          <a:ln w="19050">
            <a:solidFill>
              <a:srgbClr val="4e306d"/>
            </a:solidFill>
            <a:round/>
            <a:tailEnd len="sm" type="triangle" w="sm"/>
          </a:ln>
        </p:spPr>
      </p:cxnSp>
      <p:cxnSp>
        <p:nvCxnSpPr>
          <p:cNvPr id="55" name=""/>
          <p:cNvCxnSpPr>
            <a:stCxn id="45" idx="3"/>
            <a:endCxn id="48" idx="1"/>
          </p:cNvCxnSpPr>
          <p:nvPr/>
        </p:nvCxnSpPr>
        <p:spPr>
          <a:xfrm>
            <a:off x="5867280" y="4238280"/>
            <a:ext cx="457560" cy="360"/>
          </a:xfrm>
          <a:prstGeom prst="straightConnector1">
            <a:avLst/>
          </a:prstGeom>
          <a:ln w="19050">
            <a:solidFill>
              <a:srgbClr val="4e306d"/>
            </a:solidFill>
            <a:round/>
            <a:tailEnd len="sm" type="triangle" w="sm"/>
          </a:ln>
        </p:spPr>
      </p:cxnSp>
      <p:cxnSp>
        <p:nvCxnSpPr>
          <p:cNvPr id="56" name=""/>
          <p:cNvCxnSpPr>
            <a:stCxn id="48" idx="3"/>
            <a:endCxn id="51" idx="1"/>
          </p:cNvCxnSpPr>
          <p:nvPr/>
        </p:nvCxnSpPr>
        <p:spPr>
          <a:xfrm>
            <a:off x="8724600" y="4238280"/>
            <a:ext cx="457920" cy="360"/>
          </a:xfrm>
          <a:prstGeom prst="straightConnector1">
            <a:avLst/>
          </a:prstGeom>
          <a:ln w="19050">
            <a:solidFill>
              <a:srgbClr val="4e306d"/>
            </a:solidFill>
            <a:round/>
            <a:tailEnd len="sm" type="triangle" w="sm"/>
          </a:ln>
        </p:spPr>
      </p:cxnSp>
      <p:sp>
        <p:nvSpPr>
          <p:cNvPr id="57" name="text-4-40"/>
          <p:cNvSpPr/>
          <p:nvPr/>
        </p:nvSpPr>
        <p:spPr>
          <a:xfrm>
            <a:off x="609480" y="5610240"/>
            <a:ext cx="10572480" cy="657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Реализованы команды бота и MAX Bridge. Открытие /app внутри MAX нужно подтвердить на мобильном и веб-клиенте.</a:t>
            </a:r>
            <a:endParaRPr b="0" lang="ru-RU" sz="16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58" name="text-5-41"/>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Так выглядит тренажёр на телефоне</a:t>
            </a:r>
            <a:endParaRPr b="0" lang="ru-RU" sz="3230" strike="noStrike" u="none">
              <a:solidFill>
                <a:srgbClr val="000000"/>
              </a:solidFill>
              <a:effectLst/>
              <a:uFillTx/>
              <a:latin typeface="Arial"/>
            </a:endParaRPr>
          </a:p>
        </p:txBody>
      </p:sp>
      <p:sp>
        <p:nvSpPr>
          <p:cNvPr id="59" name="text-5-42"/>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05</a:t>
            </a:r>
            <a:endParaRPr b="0" lang="ru-RU" sz="1200" strike="noStrike" u="none">
              <a:solidFill>
                <a:srgbClr val="000000"/>
              </a:solidFill>
              <a:effectLst/>
              <a:uFillTx/>
              <a:latin typeface="Arial"/>
            </a:endParaRPr>
          </a:p>
        </p:txBody>
      </p:sp>
      <p:pic>
        <p:nvPicPr>
          <p:cNvPr id="60" name="" descr=""/>
          <p:cNvPicPr/>
          <p:nvPr/>
        </p:nvPicPr>
        <p:blipFill>
          <a:blip r:embed="rId1"/>
          <a:stretch/>
        </p:blipFill>
        <p:spPr>
          <a:xfrm>
            <a:off x="609480" y="1726200"/>
            <a:ext cx="2400120" cy="4577040"/>
          </a:xfrm>
          <a:prstGeom prst="rect">
            <a:avLst/>
          </a:prstGeom>
          <a:noFill/>
          <a:ln w="0">
            <a:noFill/>
          </a:ln>
        </p:spPr>
      </p:pic>
      <p:sp>
        <p:nvSpPr>
          <p:cNvPr id="61" name="text-5-43"/>
          <p:cNvSpPr/>
          <p:nvPr/>
        </p:nvSpPr>
        <p:spPr>
          <a:xfrm>
            <a:off x="3905280" y="1886040"/>
            <a:ext cx="704808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950" strike="noStrike" u="none">
                <a:solidFill>
                  <a:srgbClr val="4e306d"/>
                </a:solidFill>
                <a:effectLst/>
                <a:uFillTx/>
                <a:latin typeface="Arial"/>
                <a:ea typeface="Arial"/>
              </a:rPr>
              <a:t>Задание и поле ответа крупнее</a:t>
            </a:r>
            <a:endParaRPr b="0" lang="ru-RU" sz="1950" strike="noStrike" u="none">
              <a:solidFill>
                <a:srgbClr val="000000"/>
              </a:solidFill>
              <a:effectLst/>
              <a:uFillTx/>
              <a:latin typeface="Arial"/>
            </a:endParaRPr>
          </a:p>
        </p:txBody>
      </p:sp>
      <p:pic>
        <p:nvPicPr>
          <p:cNvPr id="62" name="" descr=""/>
          <p:cNvPicPr/>
          <p:nvPr/>
        </p:nvPicPr>
        <p:blipFill>
          <a:blip r:embed="rId2"/>
          <a:stretch/>
        </p:blipFill>
        <p:spPr>
          <a:xfrm>
            <a:off x="3905280" y="2458800"/>
            <a:ext cx="6933960" cy="4006800"/>
          </a:xfrm>
          <a:prstGeom prst="rect">
            <a:avLst/>
          </a:prstGeom>
          <a:noFill/>
          <a:ln w="0">
            <a:noFill/>
          </a:ln>
        </p:spPr>
      </p:pic>
      <p:sp>
        <p:nvSpPr>
          <p:cNvPr id="63" name="text-5-44"/>
          <p:cNvSpPr/>
          <p:nvPr/>
        </p:nvSpPr>
        <p:spPr>
          <a:xfrm>
            <a:off x="609480" y="6515280"/>
            <a:ext cx="10382040" cy="22824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80" strike="noStrike" u="none">
                <a:solidFill>
                  <a:srgbClr val="64616b"/>
                </a:solidFill>
                <a:effectLst/>
                <a:uFillTx/>
                <a:latin typeface="Arial"/>
                <a:ea typeface="Arial"/>
              </a:rPr>
              <a:t>Скриншот команды. На полном кадре виден ответ сервиса «Есть расхождение».</a:t>
            </a:r>
            <a:endParaRPr b="0" lang="ru-RU" sz="12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64" name="text-6-45"/>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Учитель получает основу урока и задания</a:t>
            </a:r>
            <a:endParaRPr b="0" lang="ru-RU" sz="3230" strike="noStrike" u="none">
              <a:solidFill>
                <a:srgbClr val="000000"/>
              </a:solidFill>
              <a:effectLst/>
              <a:uFillTx/>
              <a:latin typeface="Arial"/>
            </a:endParaRPr>
          </a:p>
        </p:txBody>
      </p:sp>
      <p:sp>
        <p:nvSpPr>
          <p:cNvPr id="65" name="text-6-46"/>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06</a:t>
            </a:r>
            <a:endParaRPr b="0" lang="ru-RU" sz="1200" strike="noStrike" u="none">
              <a:solidFill>
                <a:srgbClr val="000000"/>
              </a:solidFill>
              <a:effectLst/>
              <a:uFillTx/>
              <a:latin typeface="Arial"/>
            </a:endParaRPr>
          </a:p>
        </p:txBody>
      </p:sp>
      <p:sp>
        <p:nvSpPr>
          <p:cNvPr id="66" name="text-6-47"/>
          <p:cNvSpPr/>
          <p:nvPr/>
        </p:nvSpPr>
        <p:spPr>
          <a:xfrm>
            <a:off x="609480" y="2019240"/>
            <a:ext cx="3904920" cy="113328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7050" strike="noStrike" u="none">
                <a:solidFill>
                  <a:srgbClr val="4e306d"/>
                </a:solidFill>
                <a:effectLst/>
                <a:uFillTx/>
                <a:latin typeface="Arial"/>
                <a:ea typeface="Arial"/>
              </a:rPr>
              <a:t>45</a:t>
            </a:r>
            <a:endParaRPr b="0" lang="ru-RU" sz="7050" strike="noStrike" u="none">
              <a:solidFill>
                <a:srgbClr val="000000"/>
              </a:solidFill>
              <a:effectLst/>
              <a:uFillTx/>
              <a:latin typeface="Arial"/>
            </a:endParaRPr>
          </a:p>
        </p:txBody>
      </p:sp>
      <p:sp>
        <p:nvSpPr>
          <p:cNvPr id="67" name="text-6-48"/>
          <p:cNvSpPr/>
          <p:nvPr/>
        </p:nvSpPr>
        <p:spPr>
          <a:xfrm>
            <a:off x="609480" y="3257640"/>
            <a:ext cx="438120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250" strike="noStrike" u="none">
                <a:solidFill>
                  <a:srgbClr val="27252e"/>
                </a:solidFill>
                <a:effectLst/>
                <a:uFillTx/>
                <a:latin typeface="Arial"/>
                <a:ea typeface="Arial"/>
              </a:rPr>
              <a:t>минут в структуре урока</a:t>
            </a:r>
            <a:endParaRPr b="0" lang="ru-RU" sz="2250" strike="noStrike" u="none">
              <a:solidFill>
                <a:srgbClr val="000000"/>
              </a:solidFill>
              <a:effectLst/>
              <a:uFillTx/>
              <a:latin typeface="Arial"/>
            </a:endParaRPr>
          </a:p>
        </p:txBody>
      </p:sp>
      <p:sp>
        <p:nvSpPr>
          <p:cNvPr id="68" name="text-6-49"/>
          <p:cNvSpPr/>
          <p:nvPr/>
        </p:nvSpPr>
        <p:spPr>
          <a:xfrm>
            <a:off x="609480" y="4124160"/>
            <a:ext cx="3333240" cy="103788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6150" strike="noStrike" u="none">
                <a:solidFill>
                  <a:srgbClr val="4e306d"/>
                </a:solidFill>
                <a:effectLst/>
                <a:uFillTx/>
                <a:latin typeface="Arial"/>
                <a:ea typeface="Arial"/>
              </a:rPr>
              <a:t>15</a:t>
            </a:r>
            <a:endParaRPr b="0" lang="ru-RU" sz="6150" strike="noStrike" u="none">
              <a:solidFill>
                <a:srgbClr val="000000"/>
              </a:solidFill>
              <a:effectLst/>
              <a:uFillTx/>
              <a:latin typeface="Arial"/>
            </a:endParaRPr>
          </a:p>
        </p:txBody>
      </p:sp>
      <p:sp>
        <p:nvSpPr>
          <p:cNvPr id="69" name="text-6-50"/>
          <p:cNvSpPr/>
          <p:nvPr/>
        </p:nvSpPr>
        <p:spPr>
          <a:xfrm>
            <a:off x="609480" y="5248440"/>
            <a:ext cx="4476240" cy="666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170" strike="noStrike" u="none">
                <a:solidFill>
                  <a:srgbClr val="27252e"/>
                </a:solidFill>
                <a:effectLst/>
                <a:uFillTx/>
                <a:latin typeface="Arial"/>
                <a:ea typeface="Arial"/>
              </a:rPr>
              <a:t>задач в отдельном варианте</a:t>
            </a:r>
            <a:endParaRPr b="0" lang="ru-RU" sz="2170" strike="noStrike" u="none">
              <a:solidFill>
                <a:srgbClr val="000000"/>
              </a:solidFill>
              <a:effectLst/>
              <a:uFillTx/>
              <a:latin typeface="Arial"/>
            </a:endParaRPr>
          </a:p>
        </p:txBody>
      </p:sp>
      <p:sp>
        <p:nvSpPr>
          <p:cNvPr id="70" name="text-6-51"/>
          <p:cNvSpPr/>
          <p:nvPr/>
        </p:nvSpPr>
        <p:spPr>
          <a:xfrm>
            <a:off x="6286680" y="2181240"/>
            <a:ext cx="5219280" cy="43776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400" strike="noStrike" u="none">
                <a:solidFill>
                  <a:srgbClr val="4e306d"/>
                </a:solidFill>
                <a:effectLst/>
                <a:uFillTx/>
                <a:latin typeface="Arial"/>
                <a:ea typeface="Arial"/>
              </a:rPr>
              <a:t>Что входит в план</a:t>
            </a:r>
            <a:endParaRPr b="0" lang="ru-RU" sz="2400" strike="noStrike" u="none">
              <a:solidFill>
                <a:srgbClr val="000000"/>
              </a:solidFill>
              <a:effectLst/>
              <a:uFillTx/>
              <a:latin typeface="Arial"/>
            </a:endParaRPr>
          </a:p>
        </p:txBody>
      </p:sp>
      <p:sp>
        <p:nvSpPr>
          <p:cNvPr id="71" name="text-6-52"/>
          <p:cNvSpPr/>
          <p:nvPr/>
        </p:nvSpPr>
        <p:spPr>
          <a:xfrm>
            <a:off x="6286680" y="2981160"/>
            <a:ext cx="6188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800" strike="noStrike" u="none">
                <a:solidFill>
                  <a:srgbClr val="4e306d"/>
                </a:solidFill>
                <a:effectLst/>
                <a:uFillTx/>
                <a:latin typeface="Arial"/>
                <a:ea typeface="Arial"/>
              </a:rPr>
              <a:t>01</a:t>
            </a:r>
            <a:endParaRPr b="0" lang="ru-RU" sz="1800" strike="noStrike" u="none">
              <a:solidFill>
                <a:srgbClr val="000000"/>
              </a:solidFill>
              <a:effectLst/>
              <a:uFillTx/>
              <a:latin typeface="Arial"/>
            </a:endParaRPr>
          </a:p>
        </p:txBody>
      </p:sp>
      <p:sp>
        <p:nvSpPr>
          <p:cNvPr id="72" name="text-6-53"/>
          <p:cNvSpPr/>
          <p:nvPr/>
        </p:nvSpPr>
        <p:spPr>
          <a:xfrm>
            <a:off x="7039080" y="2981160"/>
            <a:ext cx="447624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170" strike="noStrike" u="none">
                <a:solidFill>
                  <a:srgbClr val="27252e"/>
                </a:solidFill>
                <a:effectLst/>
                <a:uFillTx/>
                <a:latin typeface="Arial"/>
                <a:ea typeface="Arial"/>
              </a:rPr>
              <a:t>Разминка</a:t>
            </a:r>
            <a:endParaRPr b="0" lang="ru-RU" sz="2170" strike="noStrike" u="none">
              <a:solidFill>
                <a:srgbClr val="000000"/>
              </a:solidFill>
              <a:effectLst/>
              <a:uFillTx/>
              <a:latin typeface="Arial"/>
            </a:endParaRPr>
          </a:p>
        </p:txBody>
      </p:sp>
      <p:sp>
        <p:nvSpPr>
          <p:cNvPr id="73" name=""/>
          <p:cNvSpPr/>
          <p:nvPr/>
        </p:nvSpPr>
        <p:spPr>
          <a:xfrm>
            <a:off x="6286320" y="3504960"/>
            <a:ext cx="5143680" cy="360"/>
          </a:xfrm>
          <a:prstGeom prst="line">
            <a:avLst/>
          </a:prstGeom>
          <a:ln w="19050">
            <a:solidFill>
              <a:srgbClr val="d8d2e0"/>
            </a:solidFill>
            <a:round/>
          </a:ln>
        </p:spPr>
        <p:style>
          <a:lnRef idx="0"/>
          <a:fillRef idx="0"/>
          <a:effectRef idx="0"/>
          <a:fontRef idx="minor"/>
        </p:style>
        <p:txBody>
          <a:bodyPr lIns="90000" rIns="90000" tIns="-44640" bIns="-44640" anchor="t" anchorCtr="1">
            <a:noAutofit/>
          </a:bodyPr>
          <a:p>
            <a:endParaRPr b="0" lang="ru-RU" sz="1800" strike="noStrike" u="none">
              <a:solidFill>
                <a:srgbClr val="000000"/>
              </a:solidFill>
              <a:effectLst/>
              <a:uFillTx/>
              <a:latin typeface="Arial"/>
            </a:endParaRPr>
          </a:p>
        </p:txBody>
      </p:sp>
      <p:sp>
        <p:nvSpPr>
          <p:cNvPr id="74" name="text-6-54"/>
          <p:cNvSpPr/>
          <p:nvPr/>
        </p:nvSpPr>
        <p:spPr>
          <a:xfrm>
            <a:off x="6286680" y="3714840"/>
            <a:ext cx="6188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800" strike="noStrike" u="none">
                <a:solidFill>
                  <a:srgbClr val="4e306d"/>
                </a:solidFill>
                <a:effectLst/>
                <a:uFillTx/>
                <a:latin typeface="Arial"/>
                <a:ea typeface="Arial"/>
              </a:rPr>
              <a:t>02</a:t>
            </a:r>
            <a:endParaRPr b="0" lang="ru-RU" sz="1800" strike="noStrike" u="none">
              <a:solidFill>
                <a:srgbClr val="000000"/>
              </a:solidFill>
              <a:effectLst/>
              <a:uFillTx/>
              <a:latin typeface="Arial"/>
            </a:endParaRPr>
          </a:p>
        </p:txBody>
      </p:sp>
      <p:sp>
        <p:nvSpPr>
          <p:cNvPr id="75" name="text-6-55"/>
          <p:cNvSpPr/>
          <p:nvPr/>
        </p:nvSpPr>
        <p:spPr>
          <a:xfrm>
            <a:off x="7039080" y="3714840"/>
            <a:ext cx="447624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170" strike="noStrike" u="none">
                <a:solidFill>
                  <a:srgbClr val="27252e"/>
                </a:solidFill>
                <a:effectLst/>
                <a:uFillTx/>
                <a:latin typeface="Arial"/>
                <a:ea typeface="Arial"/>
              </a:rPr>
              <a:t>Теория и примеры</a:t>
            </a:r>
            <a:endParaRPr b="0" lang="ru-RU" sz="2170" strike="noStrike" u="none">
              <a:solidFill>
                <a:srgbClr val="000000"/>
              </a:solidFill>
              <a:effectLst/>
              <a:uFillTx/>
              <a:latin typeface="Arial"/>
            </a:endParaRPr>
          </a:p>
        </p:txBody>
      </p:sp>
      <p:sp>
        <p:nvSpPr>
          <p:cNvPr id="76" name=""/>
          <p:cNvSpPr/>
          <p:nvPr/>
        </p:nvSpPr>
        <p:spPr>
          <a:xfrm>
            <a:off x="6286320" y="4238280"/>
            <a:ext cx="5143680" cy="360"/>
          </a:xfrm>
          <a:prstGeom prst="line">
            <a:avLst/>
          </a:prstGeom>
          <a:ln w="19050">
            <a:solidFill>
              <a:srgbClr val="d8d2e0"/>
            </a:solidFill>
            <a:round/>
          </a:ln>
        </p:spPr>
        <p:style>
          <a:lnRef idx="0"/>
          <a:fillRef idx="0"/>
          <a:effectRef idx="0"/>
          <a:fontRef idx="minor"/>
        </p:style>
        <p:txBody>
          <a:bodyPr lIns="90000" rIns="90000" tIns="-44640" bIns="-44640" anchor="t" anchorCtr="1">
            <a:noAutofit/>
          </a:bodyPr>
          <a:p>
            <a:endParaRPr b="0" lang="ru-RU" sz="1800" strike="noStrike" u="none">
              <a:solidFill>
                <a:srgbClr val="000000"/>
              </a:solidFill>
              <a:effectLst/>
              <a:uFillTx/>
              <a:latin typeface="Arial"/>
            </a:endParaRPr>
          </a:p>
        </p:txBody>
      </p:sp>
      <p:sp>
        <p:nvSpPr>
          <p:cNvPr id="77" name="text-6-56"/>
          <p:cNvSpPr/>
          <p:nvPr/>
        </p:nvSpPr>
        <p:spPr>
          <a:xfrm>
            <a:off x="6286680" y="4448160"/>
            <a:ext cx="6188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800" strike="noStrike" u="none">
                <a:solidFill>
                  <a:srgbClr val="4e306d"/>
                </a:solidFill>
                <a:effectLst/>
                <a:uFillTx/>
                <a:latin typeface="Arial"/>
                <a:ea typeface="Arial"/>
              </a:rPr>
              <a:t>03</a:t>
            </a:r>
            <a:endParaRPr b="0" lang="ru-RU" sz="1800" strike="noStrike" u="none">
              <a:solidFill>
                <a:srgbClr val="000000"/>
              </a:solidFill>
              <a:effectLst/>
              <a:uFillTx/>
              <a:latin typeface="Arial"/>
            </a:endParaRPr>
          </a:p>
        </p:txBody>
      </p:sp>
      <p:sp>
        <p:nvSpPr>
          <p:cNvPr id="78" name="text-6-57"/>
          <p:cNvSpPr/>
          <p:nvPr/>
        </p:nvSpPr>
        <p:spPr>
          <a:xfrm>
            <a:off x="7039080" y="4448160"/>
            <a:ext cx="447624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170" strike="noStrike" u="none">
                <a:solidFill>
                  <a:srgbClr val="27252e"/>
                </a:solidFill>
                <a:effectLst/>
                <a:uFillTx/>
                <a:latin typeface="Arial"/>
                <a:ea typeface="Arial"/>
              </a:rPr>
              <a:t>Практические задания</a:t>
            </a:r>
            <a:endParaRPr b="0" lang="ru-RU" sz="2170" strike="noStrike" u="none">
              <a:solidFill>
                <a:srgbClr val="000000"/>
              </a:solidFill>
              <a:effectLst/>
              <a:uFillTx/>
              <a:latin typeface="Arial"/>
            </a:endParaRPr>
          </a:p>
        </p:txBody>
      </p:sp>
      <p:sp>
        <p:nvSpPr>
          <p:cNvPr id="79" name=""/>
          <p:cNvSpPr/>
          <p:nvPr/>
        </p:nvSpPr>
        <p:spPr>
          <a:xfrm>
            <a:off x="6286320" y="4971960"/>
            <a:ext cx="5143680" cy="360"/>
          </a:xfrm>
          <a:prstGeom prst="line">
            <a:avLst/>
          </a:prstGeom>
          <a:ln w="19050">
            <a:solidFill>
              <a:srgbClr val="d8d2e0"/>
            </a:solidFill>
            <a:round/>
          </a:ln>
        </p:spPr>
        <p:style>
          <a:lnRef idx="0"/>
          <a:fillRef idx="0"/>
          <a:effectRef idx="0"/>
          <a:fontRef idx="minor"/>
        </p:style>
        <p:txBody>
          <a:bodyPr lIns="90000" rIns="90000" tIns="-44640" bIns="-44640" anchor="t" anchorCtr="1">
            <a:noAutofit/>
          </a:bodyPr>
          <a:p>
            <a:endParaRPr b="0" lang="ru-RU" sz="1800" strike="noStrike" u="none">
              <a:solidFill>
                <a:srgbClr val="000000"/>
              </a:solidFill>
              <a:effectLst/>
              <a:uFillTx/>
              <a:latin typeface="Arial"/>
            </a:endParaRPr>
          </a:p>
        </p:txBody>
      </p:sp>
      <p:sp>
        <p:nvSpPr>
          <p:cNvPr id="80" name="text-6-58"/>
          <p:cNvSpPr/>
          <p:nvPr/>
        </p:nvSpPr>
        <p:spPr>
          <a:xfrm>
            <a:off x="6286680" y="5181480"/>
            <a:ext cx="6188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800" strike="noStrike" u="none">
                <a:solidFill>
                  <a:srgbClr val="4e306d"/>
                </a:solidFill>
                <a:effectLst/>
                <a:uFillTx/>
                <a:latin typeface="Arial"/>
                <a:ea typeface="Arial"/>
              </a:rPr>
              <a:t>04</a:t>
            </a:r>
            <a:endParaRPr b="0" lang="ru-RU" sz="1800" strike="noStrike" u="none">
              <a:solidFill>
                <a:srgbClr val="000000"/>
              </a:solidFill>
              <a:effectLst/>
              <a:uFillTx/>
              <a:latin typeface="Arial"/>
            </a:endParaRPr>
          </a:p>
        </p:txBody>
      </p:sp>
      <p:sp>
        <p:nvSpPr>
          <p:cNvPr id="81" name="text-6-59"/>
          <p:cNvSpPr/>
          <p:nvPr/>
        </p:nvSpPr>
        <p:spPr>
          <a:xfrm>
            <a:off x="7039080" y="5181480"/>
            <a:ext cx="447624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170" strike="noStrike" u="none">
                <a:solidFill>
                  <a:srgbClr val="27252e"/>
                </a:solidFill>
                <a:effectLst/>
                <a:uFillTx/>
                <a:latin typeface="Arial"/>
                <a:ea typeface="Arial"/>
              </a:rPr>
              <a:t>Домашнее задание</a:t>
            </a:r>
            <a:endParaRPr b="0" lang="ru-RU" sz="2170" strike="noStrike" u="none">
              <a:solidFill>
                <a:srgbClr val="000000"/>
              </a:solidFill>
              <a:effectLst/>
              <a:uFillTx/>
              <a:latin typeface="Arial"/>
            </a:endParaRPr>
          </a:p>
        </p:txBody>
      </p:sp>
      <p:sp>
        <p:nvSpPr>
          <p:cNvPr id="82" name="text-6-60"/>
          <p:cNvSpPr/>
          <p:nvPr/>
        </p:nvSpPr>
        <p:spPr>
          <a:xfrm>
            <a:off x="609480" y="6419880"/>
            <a:ext cx="10286640" cy="256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430" strike="noStrike" u="none">
                <a:solidFill>
                  <a:srgbClr val="64616b"/>
                </a:solidFill>
                <a:effectLst/>
                <a:uFillTx/>
                <a:latin typeface="Arial"/>
                <a:ea typeface="Arial"/>
              </a:rPr>
              <a:t>Структура подтверждена кодом. Материал проверяет преподаватель.</a:t>
            </a:r>
            <a:endParaRPr b="0" lang="ru-RU" sz="143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83" name="text-7-61"/>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Наш фокус — короткая практика через MAX</a:t>
            </a:r>
            <a:endParaRPr b="0" lang="ru-RU" sz="3230" strike="noStrike" u="none">
              <a:solidFill>
                <a:srgbClr val="000000"/>
              </a:solidFill>
              <a:effectLst/>
              <a:uFillTx/>
              <a:latin typeface="Arial"/>
            </a:endParaRPr>
          </a:p>
        </p:txBody>
      </p:sp>
      <p:sp>
        <p:nvSpPr>
          <p:cNvPr id="84" name="text-7-62"/>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07</a:t>
            </a:r>
            <a:endParaRPr b="0" lang="ru-RU" sz="1200" strike="noStrike" u="none">
              <a:solidFill>
                <a:srgbClr val="000000"/>
              </a:solidFill>
              <a:effectLst/>
              <a:uFillTx/>
              <a:latin typeface="Arial"/>
            </a:endParaRPr>
          </a:p>
        </p:txBody>
      </p:sp>
      <p:graphicFrame>
        <p:nvGraphicFramePr>
          <p:cNvPr id="85" name=""/>
          <p:cNvGraphicFramePr/>
          <p:nvPr/>
        </p:nvGraphicFramePr>
        <p:xfrm>
          <a:off x="609480" y="2238480"/>
          <a:ext cx="10972440" cy="3247560"/>
        </p:xfrm>
        <a:graphic>
          <a:graphicData uri="http://schemas.openxmlformats.org/drawingml/2006/table">
            <a:tbl>
              <a:tblPr/>
              <a:tblGrid>
                <a:gridCol w="2619360"/>
                <a:gridCol w="4190760"/>
                <a:gridCol w="4162320"/>
              </a:tblGrid>
              <a:tr h="811800">
                <a:tc>
                  <a:txBody>
                    <a:bodyPr anchor="ctr">
                      <a:noAutofit/>
                    </a:bodyPr>
                    <a:p>
                      <a:pPr>
                        <a:lnSpc>
                          <a:spcPct val="100000"/>
                        </a:lnSpc>
                      </a:pPr>
                      <a:r>
                        <a:rPr b="1" lang="ru-RU" sz="1870" strike="noStrike" u="none">
                          <a:solidFill>
                            <a:srgbClr val="ffffff"/>
                          </a:solidFill>
                          <a:effectLst/>
                          <a:uFillTx/>
                          <a:latin typeface="Arial"/>
                          <a:ea typeface="Arial"/>
                        </a:rPr>
                        <a:t>Подход</a:t>
                      </a:r>
                      <a:endParaRPr b="0" lang="ru-RU" sz="1870" strike="noStrike" u="none">
                        <a:solidFill>
                          <a:srgbClr val="ffffff"/>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4e306d"/>
                    </a:solidFill>
                  </a:tcPr>
                </a:tc>
                <a:tc>
                  <a:txBody>
                    <a:bodyPr anchor="ctr">
                      <a:noAutofit/>
                    </a:bodyPr>
                    <a:p>
                      <a:pPr>
                        <a:lnSpc>
                          <a:spcPct val="100000"/>
                        </a:lnSpc>
                      </a:pPr>
                      <a:r>
                        <a:rPr b="1" lang="ru-RU" sz="1870" strike="noStrike" u="none">
                          <a:solidFill>
                            <a:srgbClr val="ffffff"/>
                          </a:solidFill>
                          <a:effectLst/>
                          <a:uFillTx/>
                          <a:latin typeface="Arial"/>
                          <a:ea typeface="Arial"/>
                        </a:rPr>
                        <a:t>Что уже даёт</a:t>
                      </a:r>
                      <a:endParaRPr b="0" lang="ru-RU" sz="1870" strike="noStrike" u="none">
                        <a:solidFill>
                          <a:srgbClr val="ffffff"/>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4e306d"/>
                    </a:solidFill>
                  </a:tcPr>
                </a:tc>
                <a:tc>
                  <a:txBody>
                    <a:bodyPr anchor="ctr">
                      <a:noAutofit/>
                    </a:bodyPr>
                    <a:p>
                      <a:pPr>
                        <a:lnSpc>
                          <a:spcPct val="100000"/>
                        </a:lnSpc>
                      </a:pPr>
                      <a:r>
                        <a:rPr b="1" lang="ru-RU" sz="1870" strike="noStrike" u="none">
                          <a:solidFill>
                            <a:srgbClr val="ffffff"/>
                          </a:solidFill>
                          <a:effectLst/>
                          <a:uFillTx/>
                          <a:latin typeface="Arial"/>
                          <a:ea typeface="Arial"/>
                        </a:rPr>
                        <a:t>Где наш фокус</a:t>
                      </a:r>
                      <a:endParaRPr b="0" lang="ru-RU" sz="1870" strike="noStrike" u="none">
                        <a:solidFill>
                          <a:srgbClr val="ffffff"/>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4e306d"/>
                    </a:solidFill>
                  </a:tcPr>
                </a:tc>
              </a:tr>
              <a:tr h="811800">
                <a:tc>
                  <a:txBody>
                    <a:bodyPr anchor="ctr">
                      <a:noAutofit/>
                    </a:bodyPr>
                    <a:p>
                      <a:pPr>
                        <a:lnSpc>
                          <a:spcPct val="100000"/>
                        </a:lnSpc>
                      </a:pPr>
                      <a:r>
                        <a:rPr b="1" lang="ru-RU" sz="1800" strike="noStrike" u="none">
                          <a:solidFill>
                            <a:srgbClr val="27252e"/>
                          </a:solidFill>
                          <a:effectLst/>
                          <a:uFillTx/>
                          <a:latin typeface="Arial"/>
                          <a:ea typeface="Arial"/>
                        </a:rPr>
                        <a:t>Тетрадь и учебник</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pPr>
                      <a:r>
                        <a:rPr b="0" lang="ru-RU" sz="1800" strike="noStrike" u="none">
                          <a:solidFill>
                            <a:srgbClr val="27252e"/>
                          </a:solidFill>
                          <a:effectLst/>
                          <a:uFillTx/>
                          <a:latin typeface="Arial"/>
                          <a:ea typeface="Arial"/>
                        </a:rPr>
                        <a:t>Практика по программе</a:t>
                      </a:r>
                      <a:endParaRPr b="0" lang="ru-RU" sz="1800" strike="noStrike" u="none">
                        <a:solidFill>
                          <a:srgbClr val="000000"/>
                        </a:solidFill>
                        <a:effectLst/>
                        <a:uFillTx/>
                        <a:latin typeface="Arial"/>
                      </a:endParaRPr>
                    </a:p>
                    <a:p>
                      <a:pPr>
                        <a:lnSpc>
                          <a:spcPct val="100000"/>
                        </a:lnSpc>
                      </a:pPr>
                      <a:r>
                        <a:rPr b="0" lang="ru-RU" sz="1800" strike="noStrike" u="none">
                          <a:solidFill>
                            <a:srgbClr val="27252e"/>
                          </a:solidFill>
                          <a:effectLst/>
                          <a:uFillTx/>
                          <a:latin typeface="Arial"/>
                          <a:ea typeface="Arial"/>
                        </a:rPr>
                        <a:t>Проверка учителем или по ответам</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pPr>
                      <a:r>
                        <a:rPr b="0" lang="ru-RU" sz="1800" strike="noStrike" u="none">
                          <a:solidFill>
                            <a:srgbClr val="27252e"/>
                          </a:solidFill>
                          <a:effectLst/>
                          <a:uFillTx/>
                          <a:latin typeface="Arial"/>
                          <a:ea typeface="Arial"/>
                        </a:rPr>
                        <a:t>Автоматическая проверка</a:t>
                      </a:r>
                      <a:endParaRPr b="0" lang="ru-RU" sz="1800" strike="noStrike" u="none">
                        <a:solidFill>
                          <a:srgbClr val="000000"/>
                        </a:solidFill>
                        <a:effectLst/>
                        <a:uFillTx/>
                        <a:latin typeface="Arial"/>
                      </a:endParaRPr>
                    </a:p>
                    <a:p>
                      <a:pPr>
                        <a:lnSpc>
                          <a:spcPct val="100000"/>
                        </a:lnSpc>
                      </a:pPr>
                      <a:r>
                        <a:rPr b="0" lang="ru-RU" sz="1800" strike="noStrike" u="none">
                          <a:solidFill>
                            <a:srgbClr val="27252e"/>
                          </a:solidFill>
                          <a:effectLst/>
                          <a:uFillTx/>
                          <a:latin typeface="Arial"/>
                          <a:ea typeface="Arial"/>
                        </a:rPr>
                        <a:t>конкретного упражнения</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811800">
                <a:tc>
                  <a:txBody>
                    <a:bodyPr anchor="ctr">
                      <a:noAutofit/>
                    </a:bodyPr>
                    <a:p>
                      <a:pPr>
                        <a:lnSpc>
                          <a:spcPct val="100000"/>
                        </a:lnSpc>
                      </a:pPr>
                      <a:r>
                        <a:rPr b="1" lang="ru-RU" sz="1800" strike="noStrike" u="none">
                          <a:solidFill>
                            <a:srgbClr val="27252e"/>
                          </a:solidFill>
                          <a:effectLst/>
                          <a:uFillTx/>
                          <a:latin typeface="Arial"/>
                          <a:ea typeface="Arial"/>
                        </a:rPr>
                        <a:t>Учи.ру</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pPr>
                      <a:r>
                        <a:rPr b="0" lang="ru-RU" sz="1800" strike="noStrike" u="none">
                          <a:solidFill>
                            <a:srgbClr val="27252e"/>
                          </a:solidFill>
                          <a:effectLst/>
                          <a:uFillTx/>
                          <a:latin typeface="Arial"/>
                          <a:ea typeface="Arial"/>
                        </a:rPr>
                        <a:t>Планы, задания, тренажёры</a:t>
                      </a:r>
                      <a:endParaRPr b="0" lang="ru-RU" sz="1800" strike="noStrike" u="none">
                        <a:solidFill>
                          <a:srgbClr val="000000"/>
                        </a:solidFill>
                        <a:effectLst/>
                        <a:uFillTx/>
                        <a:latin typeface="Arial"/>
                      </a:endParaRPr>
                    </a:p>
                    <a:p>
                      <a:pPr>
                        <a:lnSpc>
                          <a:spcPct val="100000"/>
                        </a:lnSpc>
                      </a:pPr>
                      <a:r>
                        <a:rPr b="0" lang="ru-RU" sz="1800" strike="noStrike" u="none">
                          <a:solidFill>
                            <a:srgbClr val="27252e"/>
                          </a:solidFill>
                          <a:effectLst/>
                          <a:uFillTx/>
                          <a:latin typeface="Arial"/>
                          <a:ea typeface="Arial"/>
                        </a:rPr>
                        <a:t>и отчёты в учебном сервисе</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pPr>
                      <a:r>
                        <a:rPr b="0" lang="ru-RU" sz="1800" strike="noStrike" u="none">
                          <a:solidFill>
                            <a:srgbClr val="27252e"/>
                          </a:solidFill>
                          <a:effectLst/>
                          <a:uFillTx/>
                          <a:latin typeface="Arial"/>
                          <a:ea typeface="Arial"/>
                        </a:rPr>
                        <a:t>Вход через чат MAX</a:t>
                      </a:r>
                      <a:endParaRPr b="0" lang="ru-RU" sz="1800" strike="noStrike" u="none">
                        <a:solidFill>
                          <a:srgbClr val="000000"/>
                        </a:solidFill>
                        <a:effectLst/>
                        <a:uFillTx/>
                        <a:latin typeface="Arial"/>
                      </a:endParaRPr>
                    </a:p>
                    <a:p>
                      <a:pPr>
                        <a:lnSpc>
                          <a:spcPct val="100000"/>
                        </a:lnSpc>
                      </a:pPr>
                      <a:r>
                        <a:rPr b="0" lang="ru-RU" sz="1800" strike="noStrike" u="none">
                          <a:solidFill>
                            <a:srgbClr val="27252e"/>
                          </a:solidFill>
                          <a:effectLst/>
                          <a:uFillTx/>
                          <a:latin typeface="Arial"/>
                          <a:ea typeface="Arial"/>
                        </a:rPr>
                        <a:t>и узкая тема ФСУ</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811800">
                <a:tc>
                  <a:txBody>
                    <a:bodyPr anchor="ctr">
                      <a:noAutofit/>
                    </a:bodyPr>
                    <a:p>
                      <a:pPr>
                        <a:lnSpc>
                          <a:spcPct val="100000"/>
                        </a:lnSpc>
                      </a:pPr>
                      <a:r>
                        <a:rPr b="1" lang="ru-RU" sz="1800" strike="noStrike" u="none">
                          <a:solidFill>
                            <a:srgbClr val="27252e"/>
                          </a:solidFill>
                          <a:effectLst/>
                          <a:uFillTx/>
                          <a:latin typeface="Arial"/>
                          <a:ea typeface="Arial"/>
                        </a:rPr>
                        <a:t>Наш MVP</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ebf5"/>
                    </a:solidFill>
                  </a:tcPr>
                </a:tc>
                <a:tc>
                  <a:txBody>
                    <a:bodyPr anchor="ctr">
                      <a:noAutofit/>
                    </a:bodyPr>
                    <a:p>
                      <a:pPr>
                        <a:lnSpc>
                          <a:spcPct val="100000"/>
                        </a:lnSpc>
                      </a:pPr>
                      <a:r>
                        <a:rPr b="0" lang="ru-RU" sz="1800" strike="noStrike" u="none">
                          <a:solidFill>
                            <a:srgbClr val="27252e"/>
                          </a:solidFill>
                          <a:effectLst/>
                          <a:uFillTx/>
                          <a:latin typeface="Arial"/>
                          <a:ea typeface="Arial"/>
                        </a:rPr>
                        <a:t>30 шаблонов ФСУ</a:t>
                      </a:r>
                      <a:endParaRPr b="0" lang="ru-RU" sz="1800" strike="noStrike" u="none">
                        <a:solidFill>
                          <a:srgbClr val="000000"/>
                        </a:solidFill>
                        <a:effectLst/>
                        <a:uFillTx/>
                        <a:latin typeface="Arial"/>
                      </a:endParaRPr>
                    </a:p>
                    <a:p>
                      <a:pPr>
                        <a:lnSpc>
                          <a:spcPct val="100000"/>
                        </a:lnSpc>
                      </a:pPr>
                      <a:r>
                        <a:rPr b="0" lang="ru-RU" sz="1800" strike="noStrike" u="none">
                          <a:solidFill>
                            <a:srgbClr val="27252e"/>
                          </a:solidFill>
                          <a:effectLst/>
                          <a:uFillTx/>
                          <a:latin typeface="Arial"/>
                          <a:ea typeface="Arial"/>
                        </a:rPr>
                        <a:t>Чат, веб-интерфейс, план урока</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ebf5"/>
                    </a:solidFill>
                  </a:tcPr>
                </a:tc>
                <a:tc>
                  <a:txBody>
                    <a:bodyPr anchor="ctr">
                      <a:noAutofit/>
                    </a:bodyPr>
                    <a:p>
                      <a:pPr>
                        <a:lnSpc>
                          <a:spcPct val="100000"/>
                        </a:lnSpc>
                      </a:pPr>
                      <a:r>
                        <a:rPr b="0" lang="ru-RU" sz="1800" strike="noStrike" u="none">
                          <a:solidFill>
                            <a:srgbClr val="27252e"/>
                          </a:solidFill>
                          <a:effectLst/>
                          <a:uFillTx/>
                          <a:latin typeface="Arial"/>
                          <a:ea typeface="Arial"/>
                        </a:rPr>
                        <a:t>Небольшой сценарий</a:t>
                      </a:r>
                      <a:endParaRPr b="0" lang="ru-RU" sz="1800" strike="noStrike" u="none">
                        <a:solidFill>
                          <a:srgbClr val="000000"/>
                        </a:solidFill>
                        <a:effectLst/>
                        <a:uFillTx/>
                        <a:latin typeface="Arial"/>
                      </a:endParaRPr>
                    </a:p>
                    <a:p>
                      <a:pPr>
                        <a:lnSpc>
                          <a:spcPct val="100000"/>
                        </a:lnSpc>
                      </a:pPr>
                      <a:r>
                        <a:rPr b="0" lang="ru-RU" sz="1800" strike="noStrike" u="none">
                          <a:solidFill>
                            <a:srgbClr val="27252e"/>
                          </a:solidFill>
                          <a:effectLst/>
                          <a:uFillTx/>
                          <a:latin typeface="Arial"/>
                          <a:ea typeface="Arial"/>
                        </a:rPr>
                        <a:t>для закрепления темы</a:t>
                      </a:r>
                      <a:endParaRPr b="0" lang="ru-RU"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ebf5"/>
                    </a:solidFill>
                  </a:tcPr>
                </a:tc>
              </a:tr>
            </a:tbl>
          </a:graphicData>
        </a:graphic>
      </p:graphicFrame>
      <p:sp>
        <p:nvSpPr>
          <p:cNvPr id="86" name="text-7-63"/>
          <p:cNvSpPr/>
          <p:nvPr/>
        </p:nvSpPr>
        <p:spPr>
          <a:xfrm>
            <a:off x="609480" y="5781600"/>
            <a:ext cx="10667520" cy="5713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870" strike="noStrike" u="none">
                <a:solidFill>
                  <a:srgbClr val="64616b"/>
                </a:solidFill>
                <a:effectLst/>
                <a:uFillTx/>
                <a:latin typeface="Arial"/>
                <a:ea typeface="Arial"/>
              </a:rPr>
              <a:t>Это отличие сценария, а не утверждение о превосходстве над образовательными платформами.</a:t>
            </a:r>
            <a:endParaRPr b="0" lang="ru-RU" sz="187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87" name="text-8-64"/>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Два интерфейса используют общее ядро</a:t>
            </a:r>
            <a:endParaRPr b="0" lang="ru-RU" sz="3230" strike="noStrike" u="none">
              <a:solidFill>
                <a:srgbClr val="000000"/>
              </a:solidFill>
              <a:effectLst/>
              <a:uFillTx/>
              <a:latin typeface="Arial"/>
            </a:endParaRPr>
          </a:p>
        </p:txBody>
      </p:sp>
      <p:sp>
        <p:nvSpPr>
          <p:cNvPr id="88" name="text-8-65"/>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08</a:t>
            </a:r>
            <a:endParaRPr b="0" lang="ru-RU" sz="1200" strike="noStrike" u="none">
              <a:solidFill>
                <a:srgbClr val="000000"/>
              </a:solidFill>
              <a:effectLst/>
              <a:uFillTx/>
              <a:latin typeface="Arial"/>
            </a:endParaRPr>
          </a:p>
        </p:txBody>
      </p:sp>
      <p:sp>
        <p:nvSpPr>
          <p:cNvPr id="89" name=""/>
          <p:cNvSpPr/>
          <p:nvPr/>
        </p:nvSpPr>
        <p:spPr>
          <a:xfrm>
            <a:off x="609480" y="2143080"/>
            <a:ext cx="2523600" cy="142848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90" name="text-8-66"/>
          <p:cNvSpPr/>
          <p:nvPr/>
        </p:nvSpPr>
        <p:spPr>
          <a:xfrm>
            <a:off x="800280" y="2305080"/>
            <a:ext cx="21427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MAX</a:t>
            </a:r>
            <a:endParaRPr b="0" lang="ru-RU" sz="2020" strike="noStrike" u="none">
              <a:solidFill>
                <a:srgbClr val="000000"/>
              </a:solidFill>
              <a:effectLst/>
              <a:uFillTx/>
              <a:latin typeface="Arial"/>
            </a:endParaRPr>
          </a:p>
        </p:txBody>
      </p:sp>
      <p:sp>
        <p:nvSpPr>
          <p:cNvPr id="91" name="text-8-67"/>
          <p:cNvSpPr/>
          <p:nvPr/>
        </p:nvSpPr>
        <p:spPr>
          <a:xfrm>
            <a:off x="800280" y="2752560"/>
            <a:ext cx="2142720" cy="704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Bot API</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Long polling</a:t>
            </a:r>
            <a:endParaRPr b="0" lang="ru-RU" sz="1650" strike="noStrike" u="none">
              <a:solidFill>
                <a:srgbClr val="000000"/>
              </a:solidFill>
              <a:effectLst/>
              <a:uFillTx/>
              <a:latin typeface="Arial"/>
            </a:endParaRPr>
          </a:p>
        </p:txBody>
      </p:sp>
      <p:sp>
        <p:nvSpPr>
          <p:cNvPr id="92" name=""/>
          <p:cNvSpPr/>
          <p:nvPr/>
        </p:nvSpPr>
        <p:spPr>
          <a:xfrm>
            <a:off x="3857760" y="2143080"/>
            <a:ext cx="3333240" cy="142848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93" name="text-8-68"/>
          <p:cNvSpPr/>
          <p:nvPr/>
        </p:nvSpPr>
        <p:spPr>
          <a:xfrm>
            <a:off x="4048200" y="2305080"/>
            <a:ext cx="295236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Диалоги</a:t>
            </a:r>
            <a:endParaRPr b="0" lang="ru-RU" sz="2020" strike="noStrike" u="none">
              <a:solidFill>
                <a:srgbClr val="000000"/>
              </a:solidFill>
              <a:effectLst/>
              <a:uFillTx/>
              <a:latin typeface="Arial"/>
            </a:endParaRPr>
          </a:p>
        </p:txBody>
      </p:sp>
      <p:sp>
        <p:nvSpPr>
          <p:cNvPr id="94" name="text-8-69"/>
          <p:cNvSpPr/>
          <p:nvPr/>
        </p:nvSpPr>
        <p:spPr>
          <a:xfrm>
            <a:off x="4048200" y="2752560"/>
            <a:ext cx="2952360" cy="704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Python</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bot/handlers.py</a:t>
            </a:r>
            <a:endParaRPr b="0" lang="ru-RU" sz="1650" strike="noStrike" u="none">
              <a:solidFill>
                <a:srgbClr val="000000"/>
              </a:solidFill>
              <a:effectLst/>
              <a:uFillTx/>
              <a:latin typeface="Arial"/>
            </a:endParaRPr>
          </a:p>
        </p:txBody>
      </p:sp>
      <p:sp>
        <p:nvSpPr>
          <p:cNvPr id="95" name=""/>
          <p:cNvSpPr/>
          <p:nvPr/>
        </p:nvSpPr>
        <p:spPr>
          <a:xfrm>
            <a:off x="609480" y="4248000"/>
            <a:ext cx="2523600" cy="142848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96" name="text-8-70"/>
          <p:cNvSpPr/>
          <p:nvPr/>
        </p:nvSpPr>
        <p:spPr>
          <a:xfrm>
            <a:off x="800280" y="4410000"/>
            <a:ext cx="21427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Веб-интерфейс</a:t>
            </a:r>
            <a:endParaRPr b="0" lang="ru-RU" sz="2020" strike="noStrike" u="none">
              <a:solidFill>
                <a:srgbClr val="000000"/>
              </a:solidFill>
              <a:effectLst/>
              <a:uFillTx/>
              <a:latin typeface="Arial"/>
            </a:endParaRPr>
          </a:p>
        </p:txBody>
      </p:sp>
      <p:sp>
        <p:nvSpPr>
          <p:cNvPr id="97" name="text-8-71"/>
          <p:cNvSpPr/>
          <p:nvPr/>
        </p:nvSpPr>
        <p:spPr>
          <a:xfrm>
            <a:off x="800280" y="4857840"/>
            <a:ext cx="2142720" cy="704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HTML / CSS / JavaScript</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MAX Bridge</a:t>
            </a:r>
            <a:endParaRPr b="0" lang="ru-RU" sz="1650" strike="noStrike" u="none">
              <a:solidFill>
                <a:srgbClr val="000000"/>
              </a:solidFill>
              <a:effectLst/>
              <a:uFillTx/>
              <a:latin typeface="Arial"/>
            </a:endParaRPr>
          </a:p>
        </p:txBody>
      </p:sp>
      <p:sp>
        <p:nvSpPr>
          <p:cNvPr id="98" name=""/>
          <p:cNvSpPr/>
          <p:nvPr/>
        </p:nvSpPr>
        <p:spPr>
          <a:xfrm>
            <a:off x="3857760" y="4248000"/>
            <a:ext cx="3333240" cy="142848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99" name="text-8-72"/>
          <p:cNvSpPr/>
          <p:nvPr/>
        </p:nvSpPr>
        <p:spPr>
          <a:xfrm>
            <a:off x="4048200" y="4410000"/>
            <a:ext cx="295236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HTTP API</a:t>
            </a:r>
            <a:endParaRPr b="0" lang="ru-RU" sz="2020" strike="noStrike" u="none">
              <a:solidFill>
                <a:srgbClr val="000000"/>
              </a:solidFill>
              <a:effectLst/>
              <a:uFillTx/>
              <a:latin typeface="Arial"/>
            </a:endParaRPr>
          </a:p>
        </p:txBody>
      </p:sp>
      <p:sp>
        <p:nvSpPr>
          <p:cNvPr id="100" name="text-8-73"/>
          <p:cNvSpPr/>
          <p:nvPr/>
        </p:nvSpPr>
        <p:spPr>
          <a:xfrm>
            <a:off x="4048200" y="4857840"/>
            <a:ext cx="2952360" cy="704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ThreadingHTTPServer</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webapp_server.py</a:t>
            </a:r>
            <a:endParaRPr b="0" lang="ru-RU" sz="1650" strike="noStrike" u="none">
              <a:solidFill>
                <a:srgbClr val="000000"/>
              </a:solidFill>
              <a:effectLst/>
              <a:uFillTx/>
              <a:latin typeface="Arial"/>
            </a:endParaRPr>
          </a:p>
        </p:txBody>
      </p:sp>
      <p:sp>
        <p:nvSpPr>
          <p:cNvPr id="101" name=""/>
          <p:cNvSpPr/>
          <p:nvPr/>
        </p:nvSpPr>
        <p:spPr>
          <a:xfrm>
            <a:off x="8143920" y="2143080"/>
            <a:ext cx="3438000" cy="195228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102" name="text-8-74"/>
          <p:cNvSpPr/>
          <p:nvPr/>
        </p:nvSpPr>
        <p:spPr>
          <a:xfrm>
            <a:off x="8334360" y="2305080"/>
            <a:ext cx="30571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Общее ядро</a:t>
            </a:r>
            <a:endParaRPr b="0" lang="ru-RU" sz="2020" strike="noStrike" u="none">
              <a:solidFill>
                <a:srgbClr val="000000"/>
              </a:solidFill>
              <a:effectLst/>
              <a:uFillTx/>
              <a:latin typeface="Arial"/>
            </a:endParaRPr>
          </a:p>
        </p:txBody>
      </p:sp>
      <p:sp>
        <p:nvSpPr>
          <p:cNvPr id="103" name="text-8-75"/>
          <p:cNvSpPr/>
          <p:nvPr/>
        </p:nvSpPr>
        <p:spPr>
          <a:xfrm>
            <a:off x="8334360" y="2752560"/>
            <a:ext cx="3057120" cy="12283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Генератор задач</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Валидатор записи</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Конструктор урока</a:t>
            </a:r>
            <a:endParaRPr b="0" lang="ru-RU" sz="1650" strike="noStrike" u="none">
              <a:solidFill>
                <a:srgbClr val="000000"/>
              </a:solidFill>
              <a:effectLst/>
              <a:uFillTx/>
              <a:latin typeface="Arial"/>
            </a:endParaRPr>
          </a:p>
        </p:txBody>
      </p:sp>
      <p:sp>
        <p:nvSpPr>
          <p:cNvPr id="104" name=""/>
          <p:cNvSpPr/>
          <p:nvPr/>
        </p:nvSpPr>
        <p:spPr>
          <a:xfrm>
            <a:off x="8143920" y="4705200"/>
            <a:ext cx="3438000" cy="1266480"/>
          </a:xfrm>
          <a:prstGeom prst="rect">
            <a:avLst/>
          </a:prstGeom>
          <a:solidFill>
            <a:srgbClr val="f0ecf5"/>
          </a:solidFill>
          <a:ln w="19050">
            <a:solidFill>
              <a:srgbClr val="4e306d"/>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105" name="text-8-76"/>
          <p:cNvSpPr/>
          <p:nvPr/>
        </p:nvSpPr>
        <p:spPr>
          <a:xfrm>
            <a:off x="8334360" y="4867200"/>
            <a:ext cx="30571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020" strike="noStrike" u="none">
                <a:solidFill>
                  <a:srgbClr val="27252e"/>
                </a:solidFill>
                <a:effectLst/>
                <a:uFillTx/>
                <a:latin typeface="Arial"/>
                <a:ea typeface="Arial"/>
              </a:rPr>
              <a:t>Данные</a:t>
            </a:r>
            <a:endParaRPr b="0" lang="ru-RU" sz="2020" strike="noStrike" u="none">
              <a:solidFill>
                <a:srgbClr val="000000"/>
              </a:solidFill>
              <a:effectLst/>
              <a:uFillTx/>
              <a:latin typeface="Arial"/>
            </a:endParaRPr>
          </a:p>
        </p:txBody>
      </p:sp>
      <p:sp>
        <p:nvSpPr>
          <p:cNvPr id="106" name="text-8-77"/>
          <p:cNvSpPr/>
          <p:nvPr/>
        </p:nvSpPr>
        <p:spPr>
          <a:xfrm>
            <a:off x="8334360" y="5315040"/>
            <a:ext cx="3057120" cy="542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650" strike="noStrike" u="none">
                <a:solidFill>
                  <a:srgbClr val="64616b"/>
                </a:solidFill>
                <a:effectLst/>
                <a:uFillTx/>
                <a:latin typeface="Arial"/>
                <a:ea typeface="Arial"/>
              </a:rPr>
              <a:t>JSON: 30 шаблонов</a:t>
            </a:r>
            <a:endParaRPr b="0" lang="ru-RU" sz="1650" strike="noStrike" u="none">
              <a:solidFill>
                <a:srgbClr val="000000"/>
              </a:solidFill>
              <a:effectLst/>
              <a:uFillTx/>
              <a:latin typeface="Arial"/>
            </a:endParaRPr>
          </a:p>
          <a:p>
            <a:pPr>
              <a:lnSpc>
                <a:spcPct val="100000"/>
              </a:lnSpc>
            </a:pPr>
            <a:r>
              <a:rPr b="0" lang="ru-RU" sz="1650" strike="noStrike" u="none">
                <a:solidFill>
                  <a:srgbClr val="64616b"/>
                </a:solidFill>
                <a:effectLst/>
                <a:uFillTx/>
                <a:latin typeface="Arial"/>
                <a:ea typeface="Arial"/>
              </a:rPr>
              <a:t>SQLite: ответы и планы</a:t>
            </a:r>
            <a:endParaRPr b="0" lang="ru-RU" sz="1650" strike="noStrike" u="none">
              <a:solidFill>
                <a:srgbClr val="000000"/>
              </a:solidFill>
              <a:effectLst/>
              <a:uFillTx/>
              <a:latin typeface="Arial"/>
            </a:endParaRPr>
          </a:p>
        </p:txBody>
      </p:sp>
      <p:cxnSp>
        <p:nvCxnSpPr>
          <p:cNvPr id="107" name=""/>
          <p:cNvCxnSpPr>
            <a:stCxn id="89" idx="3"/>
            <a:endCxn id="92" idx="1"/>
          </p:cNvCxnSpPr>
          <p:nvPr/>
        </p:nvCxnSpPr>
        <p:spPr>
          <a:xfrm>
            <a:off x="3133080" y="2857320"/>
            <a:ext cx="725040" cy="360"/>
          </a:xfrm>
          <a:prstGeom prst="straightConnector1">
            <a:avLst/>
          </a:prstGeom>
          <a:ln w="19050">
            <a:solidFill>
              <a:srgbClr val="4e306d"/>
            </a:solidFill>
            <a:round/>
            <a:tailEnd len="sm" type="triangle" w="sm"/>
          </a:ln>
        </p:spPr>
      </p:cxnSp>
      <p:cxnSp>
        <p:nvCxnSpPr>
          <p:cNvPr id="108" name=""/>
          <p:cNvCxnSpPr>
            <a:stCxn id="95" idx="3"/>
            <a:endCxn id="98" idx="1"/>
          </p:cNvCxnSpPr>
          <p:nvPr/>
        </p:nvCxnSpPr>
        <p:spPr>
          <a:xfrm>
            <a:off x="3133080" y="4962240"/>
            <a:ext cx="725040" cy="360"/>
          </a:xfrm>
          <a:prstGeom prst="straightConnector1">
            <a:avLst/>
          </a:prstGeom>
          <a:ln w="19050">
            <a:solidFill>
              <a:srgbClr val="4e306d"/>
            </a:solidFill>
            <a:round/>
            <a:tailEnd len="sm" type="triangle" w="sm"/>
          </a:ln>
        </p:spPr>
      </p:cxnSp>
      <p:cxnSp>
        <p:nvCxnSpPr>
          <p:cNvPr id="109" name=""/>
          <p:cNvCxnSpPr>
            <a:stCxn id="92" idx="3"/>
            <a:endCxn id="101" idx="1"/>
          </p:cNvCxnSpPr>
          <p:nvPr/>
        </p:nvCxnSpPr>
        <p:spPr>
          <a:xfrm>
            <a:off x="7191000" y="2857320"/>
            <a:ext cx="953280" cy="262080"/>
          </a:xfrm>
          <a:prstGeom prst="bentConnector3">
            <a:avLst>
              <a:gd name="adj1" fmla="val 50018"/>
            </a:avLst>
          </a:prstGeom>
          <a:ln w="19050">
            <a:solidFill>
              <a:srgbClr val="4e306d"/>
            </a:solidFill>
            <a:round/>
            <a:tailEnd len="sm" type="triangle" w="sm"/>
          </a:ln>
        </p:spPr>
      </p:cxnSp>
      <p:cxnSp>
        <p:nvCxnSpPr>
          <p:cNvPr id="110" name=""/>
          <p:cNvCxnSpPr>
            <a:stCxn id="98" idx="3"/>
            <a:endCxn id="101" idx="1"/>
          </p:cNvCxnSpPr>
          <p:nvPr/>
        </p:nvCxnSpPr>
        <p:spPr>
          <a:xfrm flipV="1">
            <a:off x="7191000" y="3119040"/>
            <a:ext cx="953280" cy="1843560"/>
          </a:xfrm>
          <a:prstGeom prst="bentConnector3">
            <a:avLst>
              <a:gd name="adj1" fmla="val 50018"/>
            </a:avLst>
          </a:prstGeom>
          <a:ln w="19050">
            <a:solidFill>
              <a:srgbClr val="4e306d"/>
            </a:solidFill>
            <a:round/>
            <a:tailEnd len="sm" type="triangle" w="sm"/>
          </a:ln>
        </p:spPr>
      </p:cxnSp>
      <p:cxnSp>
        <p:nvCxnSpPr>
          <p:cNvPr id="111" name=""/>
          <p:cNvCxnSpPr>
            <a:stCxn id="101" idx="2"/>
            <a:endCxn id="104" idx="0"/>
          </p:cNvCxnSpPr>
          <p:nvPr/>
        </p:nvCxnSpPr>
        <p:spPr>
          <a:xfrm>
            <a:off x="9862920" y="4095360"/>
            <a:ext cx="360" cy="610200"/>
          </a:xfrm>
          <a:prstGeom prst="straightConnector1">
            <a:avLst/>
          </a:prstGeom>
          <a:ln w="19050">
            <a:solidFill>
              <a:srgbClr val="4e306d"/>
            </a:solidFill>
            <a:round/>
            <a:tailEnd len="sm" type="triangle" w="sm"/>
          </a:ln>
        </p:spPr>
      </p:cxnSp>
      <p:sp>
        <p:nvSpPr>
          <p:cNvPr id="112" name="text-8-78"/>
          <p:cNvSpPr/>
          <p:nvPr/>
        </p:nvSpPr>
        <p:spPr>
          <a:xfrm>
            <a:off x="609480" y="6276960"/>
            <a:ext cx="10382040" cy="3045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430" strike="noStrike" u="none">
                <a:solidFill>
                  <a:srgbClr val="64616b"/>
                </a:solidFill>
                <a:effectLst/>
                <a:uFillTx/>
                <a:latin typeface="Arial"/>
                <a:ea typeface="Arial"/>
              </a:rPr>
              <a:t>Один Python-процесс и SQLite. Docker-конфигурация есть в репозитории. Внешняя LLM не используется.</a:t>
            </a:r>
            <a:endParaRPr b="0" lang="ru-RU" sz="143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0213f"/>
        </a:solidFill>
      </p:bgPr>
    </p:bg>
    <p:spTree>
      <p:nvGrpSpPr>
        <p:cNvPr id="1" name=""/>
        <p:cNvGrpSpPr/>
        <p:nvPr/>
      </p:nvGrpSpPr>
      <p:grpSpPr>
        <a:xfrm>
          <a:off x="0" y="0"/>
          <a:ext cx="0" cy="0"/>
          <a:chOff x="0" y="0"/>
          <a:chExt cx="0" cy="0"/>
        </a:xfrm>
      </p:grpSpPr>
      <p:sp>
        <p:nvSpPr>
          <p:cNvPr id="113" name="text-9-79"/>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ffffff"/>
                </a:solidFill>
                <a:effectLst/>
                <a:uFillTx/>
                <a:latin typeface="Arial"/>
                <a:ea typeface="Arial"/>
              </a:rPr>
              <a:t>Ядро работает, условия проверки известны</a:t>
            </a:r>
            <a:endParaRPr b="0" lang="ru-RU" sz="3230" strike="noStrike" u="none">
              <a:solidFill>
                <a:srgbClr val="ffffff"/>
              </a:solidFill>
              <a:effectLst/>
              <a:uFillTx/>
              <a:latin typeface="Arial"/>
            </a:endParaRPr>
          </a:p>
        </p:txBody>
      </p:sp>
      <p:sp>
        <p:nvSpPr>
          <p:cNvPr id="114" name="text-9-80"/>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d1c6dc"/>
                </a:solidFill>
                <a:effectLst/>
                <a:uFillTx/>
                <a:latin typeface="Arial"/>
                <a:ea typeface="Arial"/>
              </a:rPr>
              <a:t>09</a:t>
            </a:r>
            <a:endParaRPr b="0" lang="ru-RU" sz="1200" strike="noStrike" u="none">
              <a:solidFill>
                <a:srgbClr val="ffffff"/>
              </a:solidFill>
              <a:effectLst/>
              <a:uFillTx/>
              <a:latin typeface="Arial"/>
            </a:endParaRPr>
          </a:p>
        </p:txBody>
      </p:sp>
      <p:sp>
        <p:nvSpPr>
          <p:cNvPr id="115" name="text-9-81"/>
          <p:cNvSpPr/>
          <p:nvPr/>
        </p:nvSpPr>
        <p:spPr>
          <a:xfrm>
            <a:off x="609480" y="2143080"/>
            <a:ext cx="3904920" cy="1161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7200" strike="noStrike" u="none">
                <a:solidFill>
                  <a:srgbClr val="9edbc0"/>
                </a:solidFill>
                <a:effectLst/>
                <a:uFillTx/>
                <a:latin typeface="Arial"/>
                <a:ea typeface="Arial"/>
              </a:rPr>
              <a:t>30</a:t>
            </a:r>
            <a:endParaRPr b="0" lang="ru-RU" sz="7200" strike="noStrike" u="none">
              <a:solidFill>
                <a:srgbClr val="ffffff"/>
              </a:solidFill>
              <a:effectLst/>
              <a:uFillTx/>
              <a:latin typeface="Arial"/>
            </a:endParaRPr>
          </a:p>
        </p:txBody>
      </p:sp>
      <p:sp>
        <p:nvSpPr>
          <p:cNvPr id="116" name="text-9-82"/>
          <p:cNvSpPr/>
          <p:nvPr/>
        </p:nvSpPr>
        <p:spPr>
          <a:xfrm>
            <a:off x="609480" y="3419640"/>
            <a:ext cx="4000320" cy="97128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620" strike="noStrike" u="none">
                <a:solidFill>
                  <a:srgbClr val="ffffff"/>
                </a:solidFill>
                <a:effectLst/>
                <a:uFillTx/>
                <a:latin typeface="Arial"/>
                <a:ea typeface="Arial"/>
              </a:rPr>
              <a:t>шаблонов</a:t>
            </a:r>
            <a:endParaRPr b="0" lang="ru-RU" sz="2620" strike="noStrike" u="none">
              <a:solidFill>
                <a:srgbClr val="ffffff"/>
              </a:solidFill>
              <a:effectLst/>
              <a:uFillTx/>
              <a:latin typeface="Arial"/>
            </a:endParaRPr>
          </a:p>
          <a:p>
            <a:pPr>
              <a:lnSpc>
                <a:spcPct val="100000"/>
              </a:lnSpc>
            </a:pPr>
            <a:r>
              <a:rPr b="1" lang="ru-RU" sz="2620" strike="noStrike" u="none">
                <a:solidFill>
                  <a:srgbClr val="ffffff"/>
                </a:solidFill>
                <a:effectLst/>
                <a:uFillTx/>
                <a:latin typeface="Arial"/>
                <a:ea typeface="Arial"/>
              </a:rPr>
              <a:t>в каталоге</a:t>
            </a:r>
            <a:endParaRPr b="0" lang="ru-RU" sz="2620" strike="noStrike" u="none">
              <a:solidFill>
                <a:srgbClr val="ffffff"/>
              </a:solidFill>
              <a:effectLst/>
              <a:uFillTx/>
              <a:latin typeface="Arial"/>
            </a:endParaRPr>
          </a:p>
        </p:txBody>
      </p:sp>
      <p:sp>
        <p:nvSpPr>
          <p:cNvPr id="117" name="text-9-83"/>
          <p:cNvSpPr/>
          <p:nvPr/>
        </p:nvSpPr>
        <p:spPr>
          <a:xfrm>
            <a:off x="5477040" y="2143080"/>
            <a:ext cx="5905080" cy="1161720"/>
          </a:xfrm>
          <a:prstGeom prst="rect">
            <a:avLst/>
          </a:prstGeom>
          <a:noFill/>
          <a:ln w="0">
            <a:noFill/>
          </a:ln>
        </p:spPr>
        <p:style>
          <a:lnRef idx="0"/>
          <a:fillRef idx="0"/>
          <a:effectRef idx="0"/>
          <a:fontRef idx="minor"/>
        </p:style>
        <p:txBody>
          <a:bodyPr lIns="0" rIns="0" tIns="0" bIns="0" anchor="t">
            <a:noAutofit/>
          </a:bodyPr>
          <a:p>
            <a:pPr>
              <a:lnSpc>
                <a:spcPct val="100000"/>
              </a:lnSpc>
            </a:pPr>
            <a:r>
              <a:t>37 / 37</a:t>
            </a:r>
            <a:endParaRPr b="0" lang="ru-RU" sz="7200" strike="noStrike" u="none">
              <a:solidFill>
                <a:srgbClr val="ffffff"/>
              </a:solidFill>
              <a:effectLst/>
              <a:uFillTx/>
              <a:latin typeface="Arial"/>
            </a:endParaRPr>
          </a:p>
        </p:txBody>
      </p:sp>
      <p:sp>
        <p:nvSpPr>
          <p:cNvPr id="118" name="text-9-84"/>
          <p:cNvSpPr/>
          <p:nvPr/>
        </p:nvSpPr>
        <p:spPr>
          <a:xfrm>
            <a:off x="5477040" y="3419640"/>
            <a:ext cx="5905080" cy="971280"/>
          </a:xfrm>
          <a:prstGeom prst="rect">
            <a:avLst/>
          </a:prstGeom>
          <a:noFill/>
          <a:ln w="0">
            <a:noFill/>
          </a:ln>
        </p:spPr>
        <p:style>
          <a:lnRef idx="0"/>
          <a:fillRef idx="0"/>
          <a:effectRef idx="0"/>
          <a:fontRef idx="minor"/>
        </p:style>
        <p:txBody>
          <a:bodyPr lIns="0" rIns="0" tIns="0" bIns="0" anchor="t">
            <a:noAutofit/>
          </a:bodyPr>
          <a:p>
            <a:pPr>
              <a:lnSpc>
                <a:spcPct val="100000"/>
              </a:lnSpc>
            </a:pPr>
            <a:r>
              <a:t>тестов pytest</a:t>
            </a:r>
            <a:endParaRPr b="0" lang="ru-RU" sz="2620" strike="noStrike" u="none">
              <a:solidFill>
                <a:srgbClr val="ffffff"/>
              </a:solidFill>
              <a:effectLst/>
              <a:uFillTx/>
              <a:latin typeface="Arial"/>
            </a:endParaRPr>
          </a:p>
          <a:p>
            <a:pPr>
              <a:lnSpc>
                <a:spcPct val="100000"/>
              </a:lnSpc>
            </a:pPr>
            <a:r>
              <a:t>успешно пройдены</a:t>
            </a:r>
            <a:endParaRPr b="0" lang="ru-RU" sz="2620" strike="noStrike" u="none">
              <a:solidFill>
                <a:srgbClr val="ffffff"/>
              </a:solidFill>
              <a:effectLst/>
              <a:uFillTx/>
              <a:latin typeface="Arial"/>
            </a:endParaRPr>
          </a:p>
        </p:txBody>
      </p:sp>
      <p:sp>
        <p:nvSpPr>
          <p:cNvPr id="119" name="text-9-85"/>
          <p:cNvSpPr/>
          <p:nvPr/>
        </p:nvSpPr>
        <p:spPr>
          <a:xfrm>
            <a:off x="609480" y="5048280"/>
            <a:ext cx="10858320" cy="590040"/>
          </a:xfrm>
          <a:prstGeom prst="rect">
            <a:avLst/>
          </a:prstGeom>
          <a:noFill/>
          <a:ln w="0">
            <a:noFill/>
          </a:ln>
        </p:spPr>
        <p:style>
          <a:lnRef idx="0"/>
          <a:fillRef idx="0"/>
          <a:effectRef idx="0"/>
          <a:fontRef idx="minor"/>
        </p:style>
        <p:txBody>
          <a:bodyPr lIns="0" rIns="0" tIns="0" bIns="0" anchor="t">
            <a:noAutofit/>
          </a:bodyPr>
          <a:p>
            <a:pPr>
              <a:lnSpc>
                <a:spcPct val="100000"/>
              </a:lnSpc>
            </a:pPr>
            <a:r>
              <a:t>100% покрытие: изолированная база SQLite инициализируется автоматически.</a:t>
            </a:r>
            <a:endParaRPr b="0" lang="ru-RU" sz="2320" strike="noStrike" u="none">
              <a:solidFill>
                <a:srgbClr val="ffffff"/>
              </a:solidFill>
              <a:effectLst/>
              <a:uFillTx/>
              <a:latin typeface="Arial"/>
            </a:endParaRPr>
          </a:p>
        </p:txBody>
      </p:sp>
      <p:sp>
        <p:nvSpPr>
          <p:cNvPr id="120" name="text-9-86"/>
          <p:cNvSpPr/>
          <p:nvPr/>
        </p:nvSpPr>
        <p:spPr>
          <a:xfrm>
            <a:off x="609480" y="5886360"/>
            <a:ext cx="10477080" cy="533160"/>
          </a:xfrm>
          <a:prstGeom prst="rect">
            <a:avLst/>
          </a:prstGeom>
          <a:noFill/>
          <a:ln w="0">
            <a:noFill/>
          </a:ln>
        </p:spPr>
        <p:style>
          <a:lnRef idx="0"/>
          <a:fillRef idx="0"/>
          <a:effectRef idx="0"/>
          <a:fontRef idx="minor"/>
        </p:style>
        <p:txBody>
          <a:bodyPr lIns="0" rIns="0" tIns="0" bIns="0" anchor="t">
            <a:noAutofit/>
          </a:bodyPr>
          <a:p>
            <a:pPr>
              <a:lnSpc>
                <a:spcPct val="100000"/>
              </a:lnSpc>
            </a:pPr>
            <a:r>
              <a:t>Протестированы: 30 шаблонов ФСУ, степени (², ³, ⁴, ⁵), подсказки /hint, WebApp API и генератор уроков.</a:t>
            </a:r>
            <a:endParaRPr b="0" lang="ru-RU" sz="1729"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121" name="text-10-87"/>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t>Ключевые инженерные решения для надёжности MVP</a:t>
            </a:r>
            <a:endParaRPr b="0" lang="ru-RU" sz="3230" strike="noStrike" u="none">
              <a:solidFill>
                <a:srgbClr val="000000"/>
              </a:solidFill>
              <a:effectLst/>
              <a:uFillTx/>
              <a:latin typeface="Arial"/>
            </a:endParaRPr>
          </a:p>
        </p:txBody>
      </p:sp>
      <p:sp>
        <p:nvSpPr>
          <p:cNvPr id="122" name="text-10-88"/>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10</a:t>
            </a:r>
            <a:endParaRPr b="0" lang="ru-RU" sz="1200" strike="noStrike" u="none">
              <a:solidFill>
                <a:srgbClr val="000000"/>
              </a:solidFill>
              <a:effectLst/>
              <a:uFillTx/>
              <a:latin typeface="Arial"/>
            </a:endParaRPr>
          </a:p>
        </p:txBody>
      </p:sp>
      <p:sp>
        <p:nvSpPr>
          <p:cNvPr id="123" name="text-10-89"/>
          <p:cNvSpPr/>
          <p:nvPr/>
        </p:nvSpPr>
        <p:spPr>
          <a:xfrm>
            <a:off x="609480" y="2124000"/>
            <a:ext cx="90468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380" strike="noStrike" u="none">
                <a:solidFill>
                  <a:srgbClr val="4e306d"/>
                </a:solidFill>
                <a:effectLst/>
                <a:uFillTx/>
                <a:latin typeface="Arial"/>
                <a:ea typeface="Arial"/>
              </a:rPr>
              <a:t>01</a:t>
            </a:r>
            <a:endParaRPr b="0" lang="ru-RU" sz="3380" strike="noStrike" u="none">
              <a:solidFill>
                <a:srgbClr val="000000"/>
              </a:solidFill>
              <a:effectLst/>
              <a:uFillTx/>
              <a:latin typeface="Arial"/>
            </a:endParaRPr>
          </a:p>
        </p:txBody>
      </p:sp>
      <p:sp>
        <p:nvSpPr>
          <p:cNvPr id="124" name="text-10-90"/>
          <p:cNvSpPr/>
          <p:nvPr/>
        </p:nvSpPr>
        <p:spPr>
          <a:xfrm>
            <a:off x="1886040" y="2124000"/>
            <a:ext cx="9524520" cy="418680"/>
          </a:xfrm>
          <a:prstGeom prst="rect">
            <a:avLst/>
          </a:prstGeom>
          <a:noFill/>
          <a:ln w="0">
            <a:noFill/>
          </a:ln>
        </p:spPr>
        <p:style>
          <a:lnRef idx="0"/>
          <a:fillRef idx="0"/>
          <a:effectRef idx="0"/>
          <a:fontRef idx="minor"/>
        </p:style>
        <p:txBody>
          <a:bodyPr lIns="0" rIns="0" tIns="0" bIns="0" anchor="t">
            <a:noAutofit/>
          </a:bodyPr>
          <a:p>
            <a:pPr>
              <a:lnSpc>
                <a:spcPct val="100000"/>
              </a:lnSpc>
            </a:pPr>
            <a:r>
              <a:t>Интеллектуальный валидатор</a:t>
            </a:r>
            <a:endParaRPr b="0" lang="ru-RU" sz="2320" strike="noStrike" u="none">
              <a:solidFill>
                <a:srgbClr val="000000"/>
              </a:solidFill>
              <a:effectLst/>
              <a:uFillTx/>
              <a:latin typeface="Arial"/>
            </a:endParaRPr>
          </a:p>
        </p:txBody>
      </p:sp>
      <p:sp>
        <p:nvSpPr>
          <p:cNvPr id="125" name="text-10-91"/>
          <p:cNvSpPr/>
          <p:nvPr/>
        </p:nvSpPr>
        <p:spPr>
          <a:xfrm>
            <a:off x="1886040" y="2600280"/>
            <a:ext cx="9524520" cy="713880"/>
          </a:xfrm>
          <a:prstGeom prst="rect">
            <a:avLst/>
          </a:prstGeom>
          <a:noFill/>
          <a:ln w="0">
            <a:noFill/>
          </a:ln>
        </p:spPr>
        <p:style>
          <a:lnRef idx="0"/>
          <a:fillRef idx="0"/>
          <a:effectRef idx="0"/>
          <a:fontRef idx="minor"/>
        </p:style>
        <p:txBody>
          <a:bodyPr lIns="0" rIns="0" tIns="0" bIns="0" anchor="t">
            <a:noAutofit/>
          </a:bodyPr>
          <a:p>
            <a:pPr>
              <a:lnSpc>
                <a:spcPct val="100000"/>
              </a:lnSpc>
            </a:pPr>
            <a:r>
              <a:t>Поддержка любых эквивалентных форм: x², x³, x⁴, x⁵, x2, ^2, **2, опечаток (х→x).</a:t>
            </a:r>
            <a:endParaRPr b="0" lang="ru-RU" sz="1870" strike="noStrike" u="none">
              <a:solidFill>
                <a:srgbClr val="000000"/>
              </a:solidFill>
              <a:effectLst/>
              <a:uFillTx/>
              <a:latin typeface="Arial"/>
            </a:endParaRPr>
          </a:p>
          <a:p>
            <a:pPr>
              <a:lnSpc>
                <a:spcPct val="100000"/>
              </a:lnSpc>
            </a:pPr>
            <a:r>
              <a:t>К каждому из 30 типов задач выдаётся математическая формула решения (/hint).</a:t>
            </a:r>
            <a:endParaRPr b="0" lang="ru-RU" sz="1870" strike="noStrike" u="none">
              <a:solidFill>
                <a:srgbClr val="000000"/>
              </a:solidFill>
              <a:effectLst/>
              <a:uFillTx/>
              <a:latin typeface="Arial"/>
            </a:endParaRPr>
          </a:p>
        </p:txBody>
      </p:sp>
      <p:sp>
        <p:nvSpPr>
          <p:cNvPr id="126" name="text-10-92"/>
          <p:cNvSpPr/>
          <p:nvPr/>
        </p:nvSpPr>
        <p:spPr>
          <a:xfrm>
            <a:off x="609480" y="3467160"/>
            <a:ext cx="90468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380" strike="noStrike" u="none">
                <a:solidFill>
                  <a:srgbClr val="4e306d"/>
                </a:solidFill>
                <a:effectLst/>
                <a:uFillTx/>
                <a:latin typeface="Arial"/>
                <a:ea typeface="Arial"/>
              </a:rPr>
              <a:t>02</a:t>
            </a:r>
            <a:endParaRPr b="0" lang="ru-RU" sz="3380" strike="noStrike" u="none">
              <a:solidFill>
                <a:srgbClr val="000000"/>
              </a:solidFill>
              <a:effectLst/>
              <a:uFillTx/>
              <a:latin typeface="Arial"/>
            </a:endParaRPr>
          </a:p>
        </p:txBody>
      </p:sp>
      <p:sp>
        <p:nvSpPr>
          <p:cNvPr id="127" name="text-10-93"/>
          <p:cNvSpPr/>
          <p:nvPr/>
        </p:nvSpPr>
        <p:spPr>
          <a:xfrm>
            <a:off x="1886040" y="3467160"/>
            <a:ext cx="9524520" cy="418680"/>
          </a:xfrm>
          <a:prstGeom prst="rect">
            <a:avLst/>
          </a:prstGeom>
          <a:noFill/>
          <a:ln w="0">
            <a:noFill/>
          </a:ln>
        </p:spPr>
        <p:style>
          <a:lnRef idx="0"/>
          <a:fillRef idx="0"/>
          <a:effectRef idx="0"/>
          <a:fontRef idx="minor"/>
        </p:style>
        <p:txBody>
          <a:bodyPr lIns="0" rIns="0" tIns="0" bIns="0" anchor="t">
            <a:noAutofit/>
          </a:bodyPr>
          <a:p>
            <a:pPr>
              <a:lnSpc>
                <a:spcPct val="100000"/>
              </a:lnSpc>
            </a:pPr>
            <a:r>
              <a:t>Сквозная аналитика и данные</a:t>
            </a:r>
            <a:endParaRPr b="0" lang="ru-RU" sz="2320" strike="noStrike" u="none">
              <a:solidFill>
                <a:srgbClr val="000000"/>
              </a:solidFill>
              <a:effectLst/>
              <a:uFillTx/>
              <a:latin typeface="Arial"/>
            </a:endParaRPr>
          </a:p>
        </p:txBody>
      </p:sp>
      <p:sp>
        <p:nvSpPr>
          <p:cNvPr id="128" name="text-10-94"/>
          <p:cNvSpPr/>
          <p:nvPr/>
        </p:nvSpPr>
        <p:spPr>
          <a:xfrm>
            <a:off x="1886040" y="3943440"/>
            <a:ext cx="9524520" cy="713880"/>
          </a:xfrm>
          <a:prstGeom prst="rect">
            <a:avLst/>
          </a:prstGeom>
          <a:noFill/>
          <a:ln w="0">
            <a:noFill/>
          </a:ln>
        </p:spPr>
        <p:style>
          <a:lnRef idx="0"/>
          <a:fillRef idx="0"/>
          <a:effectRef idx="0"/>
          <a:fontRef idx="minor"/>
        </p:style>
        <p:txBody>
          <a:bodyPr lIns="0" rIns="0" tIns="0" bIns="0" anchor="t">
            <a:noAutofit/>
          </a:bodyPr>
          <a:p>
            <a:pPr>
              <a:lnSpc>
                <a:spcPct val="100000"/>
              </a:lnSpc>
            </a:pPr>
            <a:r>
              <a:t>Серверная синхронизация user_id между WebApp и ботом в SQLite.</a:t>
            </a:r>
            <a:endParaRPr b="0" lang="ru-RU" sz="1870" strike="noStrike" u="none">
              <a:solidFill>
                <a:srgbClr val="000000"/>
              </a:solidFill>
              <a:effectLst/>
              <a:uFillTx/>
              <a:latin typeface="Arial"/>
            </a:endParaRPr>
          </a:p>
          <a:p>
            <a:pPr>
              <a:lnSpc>
                <a:spcPct val="100000"/>
              </a:lnSpc>
            </a:pPr>
            <a:r>
              <a:t>Команда /stats в чате мгновенно учитывает задачи, решённые в WebApp.</a:t>
            </a:r>
            <a:endParaRPr b="0" lang="ru-RU" sz="1870" strike="noStrike" u="none">
              <a:solidFill>
                <a:srgbClr val="000000"/>
              </a:solidFill>
              <a:effectLst/>
              <a:uFillTx/>
              <a:latin typeface="Arial"/>
            </a:endParaRPr>
          </a:p>
        </p:txBody>
      </p:sp>
      <p:sp>
        <p:nvSpPr>
          <p:cNvPr id="129" name="text-10-95"/>
          <p:cNvSpPr/>
          <p:nvPr/>
        </p:nvSpPr>
        <p:spPr>
          <a:xfrm>
            <a:off x="609480" y="4809960"/>
            <a:ext cx="90468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380" strike="noStrike" u="none">
                <a:solidFill>
                  <a:srgbClr val="4e306d"/>
                </a:solidFill>
                <a:effectLst/>
                <a:uFillTx/>
                <a:latin typeface="Arial"/>
                <a:ea typeface="Arial"/>
              </a:rPr>
              <a:t>03</a:t>
            </a:r>
            <a:endParaRPr b="0" lang="ru-RU" sz="3380" strike="noStrike" u="none">
              <a:solidFill>
                <a:srgbClr val="000000"/>
              </a:solidFill>
              <a:effectLst/>
              <a:uFillTx/>
              <a:latin typeface="Arial"/>
            </a:endParaRPr>
          </a:p>
        </p:txBody>
      </p:sp>
      <p:sp>
        <p:nvSpPr>
          <p:cNvPr id="130" name="text-10-96"/>
          <p:cNvSpPr/>
          <p:nvPr/>
        </p:nvSpPr>
        <p:spPr>
          <a:xfrm>
            <a:off x="1886040" y="4809960"/>
            <a:ext cx="9524520" cy="418680"/>
          </a:xfrm>
          <a:prstGeom prst="rect">
            <a:avLst/>
          </a:prstGeom>
          <a:noFill/>
          <a:ln w="0">
            <a:noFill/>
          </a:ln>
        </p:spPr>
        <p:style>
          <a:lnRef idx="0"/>
          <a:fillRef idx="0"/>
          <a:effectRef idx="0"/>
          <a:fontRef idx="minor"/>
        </p:style>
        <p:txBody>
          <a:bodyPr lIns="0" rIns="0" tIns="0" bIns="0" anchor="t">
            <a:noAutofit/>
          </a:bodyPr>
          <a:p>
            <a:pPr>
              <a:lnSpc>
                <a:spcPct val="100000"/>
              </a:lnSpc>
            </a:pPr>
            <a:r>
              <a:t>Платформенный бонус MAX (+0,15)</a:t>
            </a:r>
            <a:endParaRPr b="0" lang="ru-RU" sz="2320" strike="noStrike" u="none">
              <a:solidFill>
                <a:srgbClr val="000000"/>
              </a:solidFill>
              <a:effectLst/>
              <a:uFillTx/>
              <a:latin typeface="Arial"/>
            </a:endParaRPr>
          </a:p>
        </p:txBody>
      </p:sp>
      <p:sp>
        <p:nvSpPr>
          <p:cNvPr id="131" name="text-10-97"/>
          <p:cNvSpPr/>
          <p:nvPr/>
        </p:nvSpPr>
        <p:spPr>
          <a:xfrm>
            <a:off x="1886040" y="5286240"/>
            <a:ext cx="9524520" cy="713880"/>
          </a:xfrm>
          <a:prstGeom prst="rect">
            <a:avLst/>
          </a:prstGeom>
          <a:noFill/>
          <a:ln w="0">
            <a:noFill/>
          </a:ln>
        </p:spPr>
        <p:style>
          <a:lnRef idx="0"/>
          <a:fillRef idx="0"/>
          <a:effectRef idx="0"/>
          <a:fontRef idx="minor"/>
        </p:style>
        <p:txBody>
          <a:bodyPr lIns="0" rIns="0" tIns="0" bIns="0" anchor="t">
            <a:noAutofit/>
          </a:bodyPr>
          <a:p>
            <a:pPr>
              <a:lnSpc>
                <a:spcPct val="100000"/>
              </a:lnSpc>
            </a:pPr>
            <a:r>
              <a:t>Валидный TLS Let's Encrypt, меню команд 📎, виртуальная клавиатура степеней</a:t>
            </a:r>
            <a:endParaRPr b="0" lang="ru-RU" sz="1870" strike="noStrike" u="none">
              <a:solidFill>
                <a:srgbClr val="000000"/>
              </a:solidFill>
              <a:effectLst/>
              <a:uFillTx/>
              <a:latin typeface="Arial"/>
            </a:endParaRPr>
          </a:p>
          <a:p>
            <a:pPr>
              <a:lnSpc>
                <a:spcPct val="100000"/>
              </a:lnSpc>
            </a:pPr>
            <a:r>
              <a:t>и бесшовный возврат из WebApp обратно в диалог с ботом по крестику.</a:t>
            </a:r>
            <a:endParaRPr b="0" lang="ru-RU" sz="187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132" name="text-11-98"/>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t>Готовность подтверждена сценариями проверки</a:t>
            </a:r>
            <a:endParaRPr b="0" lang="ru-RU" sz="3230" strike="noStrike" u="none">
              <a:solidFill>
                <a:srgbClr val="000000"/>
              </a:solidFill>
              <a:effectLst/>
              <a:uFillTx/>
              <a:latin typeface="Arial"/>
            </a:endParaRPr>
          </a:p>
        </p:txBody>
      </p:sp>
      <p:sp>
        <p:nvSpPr>
          <p:cNvPr id="133" name="text-11-99"/>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11</a:t>
            </a:r>
            <a:endParaRPr b="0" lang="ru-RU" sz="1200" strike="noStrike" u="none">
              <a:solidFill>
                <a:srgbClr val="000000"/>
              </a:solidFill>
              <a:effectLst/>
              <a:uFillTx/>
              <a:latin typeface="Arial"/>
            </a:endParaRPr>
          </a:p>
        </p:txBody>
      </p:sp>
      <p:sp>
        <p:nvSpPr>
          <p:cNvPr id="134" name="text-11-100"/>
          <p:cNvSpPr/>
          <p:nvPr/>
        </p:nvSpPr>
        <p:spPr>
          <a:xfrm>
            <a:off x="609480" y="2133720"/>
            <a:ext cx="904680" cy="5234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4e306d"/>
                </a:solidFill>
                <a:effectLst/>
                <a:uFillTx/>
                <a:latin typeface="Arial"/>
                <a:ea typeface="Arial"/>
              </a:rPr>
              <a:t>01</a:t>
            </a:r>
            <a:endParaRPr b="0" lang="ru-RU" sz="3230" strike="noStrike" u="none">
              <a:solidFill>
                <a:srgbClr val="000000"/>
              </a:solidFill>
              <a:effectLst/>
              <a:uFillTx/>
              <a:latin typeface="Arial"/>
            </a:endParaRPr>
          </a:p>
        </p:txBody>
      </p:sp>
      <p:sp>
        <p:nvSpPr>
          <p:cNvPr id="135" name="text-11-101"/>
          <p:cNvSpPr/>
          <p:nvPr/>
        </p:nvSpPr>
        <p:spPr>
          <a:xfrm>
            <a:off x="1886040" y="2133720"/>
            <a:ext cx="9429480" cy="428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320" strike="noStrike" u="none">
                <a:solidFill>
                  <a:srgbClr val="27252e"/>
                </a:solidFill>
                <a:effectLst/>
                <a:uFillTx/>
                <a:latin typeface="Arial"/>
                <a:ea typeface="Arial"/>
              </a:rPr>
              <a:t>Ответы принимаются корректно</a:t>
            </a:r>
            <a:endParaRPr b="0" lang="ru-RU" sz="2320" strike="noStrike" u="none">
              <a:solidFill>
                <a:srgbClr val="000000"/>
              </a:solidFill>
              <a:effectLst/>
              <a:uFillTx/>
              <a:latin typeface="Arial"/>
            </a:endParaRPr>
          </a:p>
        </p:txBody>
      </p:sp>
      <p:sp>
        <p:nvSpPr>
          <p:cNvPr id="136" name="text-11-102"/>
          <p:cNvSpPr/>
          <p:nvPr/>
        </p:nvSpPr>
        <p:spPr>
          <a:xfrm>
            <a:off x="1886040" y="2657520"/>
            <a:ext cx="9429480" cy="637920"/>
          </a:xfrm>
          <a:prstGeom prst="rect">
            <a:avLst/>
          </a:prstGeom>
          <a:noFill/>
          <a:ln w="0">
            <a:noFill/>
          </a:ln>
        </p:spPr>
        <p:style>
          <a:lnRef idx="0"/>
          <a:fillRef idx="0"/>
          <a:effectRef idx="0"/>
          <a:fontRef idx="minor"/>
        </p:style>
        <p:txBody>
          <a:bodyPr lIns="0" rIns="0" tIns="0" bIns="0" anchor="t">
            <a:noAutofit/>
          </a:bodyPr>
          <a:p>
            <a:pPr>
              <a:lnSpc>
                <a:spcPct val="100000"/>
              </a:lnSpc>
            </a:pPr>
            <a:r>
              <a:t>Валидация степеней ², ³, ⁴, ⁵, текстовых записей и формул подтверждена 37 тестами.</a:t>
            </a:r>
            <a:endParaRPr b="0" lang="ru-RU" sz="1870" strike="noStrike" u="none">
              <a:solidFill>
                <a:srgbClr val="000000"/>
              </a:solidFill>
              <a:effectLst/>
              <a:uFillTx/>
              <a:latin typeface="Arial"/>
            </a:endParaRPr>
          </a:p>
        </p:txBody>
      </p:sp>
      <p:sp>
        <p:nvSpPr>
          <p:cNvPr id="137" name="text-11-103"/>
          <p:cNvSpPr/>
          <p:nvPr/>
        </p:nvSpPr>
        <p:spPr>
          <a:xfrm>
            <a:off x="609480" y="3419640"/>
            <a:ext cx="904680" cy="5234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4e306d"/>
                </a:solidFill>
                <a:effectLst/>
                <a:uFillTx/>
                <a:latin typeface="Arial"/>
                <a:ea typeface="Arial"/>
              </a:rPr>
              <a:t>02</a:t>
            </a:r>
            <a:endParaRPr b="0" lang="ru-RU" sz="3230" strike="noStrike" u="none">
              <a:solidFill>
                <a:srgbClr val="000000"/>
              </a:solidFill>
              <a:effectLst/>
              <a:uFillTx/>
              <a:latin typeface="Arial"/>
            </a:endParaRPr>
          </a:p>
        </p:txBody>
      </p:sp>
      <p:sp>
        <p:nvSpPr>
          <p:cNvPr id="138" name="text-11-104"/>
          <p:cNvSpPr/>
          <p:nvPr/>
        </p:nvSpPr>
        <p:spPr>
          <a:xfrm>
            <a:off x="1886040" y="3419640"/>
            <a:ext cx="9429480" cy="428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320" strike="noStrike" u="none">
                <a:solidFill>
                  <a:srgbClr val="27252e"/>
                </a:solidFill>
                <a:effectLst/>
                <a:uFillTx/>
                <a:latin typeface="Arial"/>
                <a:ea typeface="Arial"/>
              </a:rPr>
              <a:t>Путь внутри MAX работает целиком</a:t>
            </a:r>
            <a:endParaRPr b="0" lang="ru-RU" sz="2320" strike="noStrike" u="none">
              <a:solidFill>
                <a:srgbClr val="000000"/>
              </a:solidFill>
              <a:effectLst/>
              <a:uFillTx/>
              <a:latin typeface="Arial"/>
            </a:endParaRPr>
          </a:p>
        </p:txBody>
      </p:sp>
      <p:sp>
        <p:nvSpPr>
          <p:cNvPr id="139" name="text-11-105"/>
          <p:cNvSpPr/>
          <p:nvPr/>
        </p:nvSpPr>
        <p:spPr>
          <a:xfrm>
            <a:off x="1886040" y="3943440"/>
            <a:ext cx="9429480" cy="637920"/>
          </a:xfrm>
          <a:prstGeom prst="rect">
            <a:avLst/>
          </a:prstGeom>
          <a:noFill/>
          <a:ln w="0">
            <a:noFill/>
          </a:ln>
        </p:spPr>
        <p:style>
          <a:lnRef idx="0"/>
          <a:fillRef idx="0"/>
          <a:effectRef idx="0"/>
          <a:fontRef idx="minor"/>
        </p:style>
        <p:txBody>
          <a:bodyPr lIns="0" rIns="0" tIns="0" bIns="0" anchor="t">
            <a:noAutofit/>
          </a:bodyPr>
          <a:p>
            <a:pPr>
              <a:lnSpc>
                <a:spcPct val="100000"/>
              </a:lnSpc>
            </a:pPr>
            <a:r>
              <a:t>Сквозной путь: /start → /task / /app → ввод → статистика /stats отработан на 100%.</a:t>
            </a:r>
            <a:endParaRPr b="0" lang="ru-RU" sz="1870" strike="noStrike" u="none">
              <a:solidFill>
                <a:srgbClr val="000000"/>
              </a:solidFill>
              <a:effectLst/>
              <a:uFillTx/>
              <a:latin typeface="Arial"/>
            </a:endParaRPr>
          </a:p>
        </p:txBody>
      </p:sp>
      <p:sp>
        <p:nvSpPr>
          <p:cNvPr id="140" name="text-11-106"/>
          <p:cNvSpPr/>
          <p:nvPr/>
        </p:nvSpPr>
        <p:spPr>
          <a:xfrm>
            <a:off x="609480" y="4705200"/>
            <a:ext cx="904680" cy="5234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4e306d"/>
                </a:solidFill>
                <a:effectLst/>
                <a:uFillTx/>
                <a:latin typeface="Arial"/>
                <a:ea typeface="Arial"/>
              </a:rPr>
              <a:t>03</a:t>
            </a:r>
            <a:endParaRPr b="0" lang="ru-RU" sz="3230" strike="noStrike" u="none">
              <a:solidFill>
                <a:srgbClr val="000000"/>
              </a:solidFill>
              <a:effectLst/>
              <a:uFillTx/>
              <a:latin typeface="Arial"/>
            </a:endParaRPr>
          </a:p>
        </p:txBody>
      </p:sp>
      <p:sp>
        <p:nvSpPr>
          <p:cNvPr id="141" name="text-11-107"/>
          <p:cNvSpPr/>
          <p:nvPr/>
        </p:nvSpPr>
        <p:spPr>
          <a:xfrm>
            <a:off x="1886040" y="4705200"/>
            <a:ext cx="9429480" cy="428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320" strike="noStrike" u="none">
                <a:solidFill>
                  <a:srgbClr val="27252e"/>
                </a:solidFill>
                <a:effectLst/>
                <a:uFillTx/>
                <a:latin typeface="Arial"/>
                <a:ea typeface="Arial"/>
              </a:rPr>
              <a:t>Результаты сохраняются верно</a:t>
            </a:r>
            <a:endParaRPr b="0" lang="ru-RU" sz="2320" strike="noStrike" u="none">
              <a:solidFill>
                <a:srgbClr val="000000"/>
              </a:solidFill>
              <a:effectLst/>
              <a:uFillTx/>
              <a:latin typeface="Arial"/>
            </a:endParaRPr>
          </a:p>
        </p:txBody>
      </p:sp>
      <p:sp>
        <p:nvSpPr>
          <p:cNvPr id="142" name="text-11-108"/>
          <p:cNvSpPr/>
          <p:nvPr/>
        </p:nvSpPr>
        <p:spPr>
          <a:xfrm>
            <a:off x="1886040" y="5229360"/>
            <a:ext cx="9429480" cy="637920"/>
          </a:xfrm>
          <a:prstGeom prst="rect">
            <a:avLst/>
          </a:prstGeom>
          <a:noFill/>
          <a:ln w="0">
            <a:noFill/>
          </a:ln>
        </p:spPr>
        <p:style>
          <a:lnRef idx="0"/>
          <a:fillRef idx="0"/>
          <a:effectRef idx="0"/>
          <a:fontRef idx="minor"/>
        </p:style>
        <p:txBody>
          <a:bodyPr lIns="0" rIns="0" tIns="0" bIns="0" anchor="t">
            <a:noAutofit/>
          </a:bodyPr>
          <a:p>
            <a:pPr>
              <a:lnSpc>
                <a:spcPct val="100000"/>
              </a:lnSpc>
            </a:pPr>
            <a:r>
              <a:t>Результаты и стрики сохраняются в SQLite, обеспечивая целостность профиля ученика.</a:t>
            </a:r>
            <a:endParaRPr b="0" lang="ru-RU" sz="1870" strike="noStrike" u="none">
              <a:solidFill>
                <a:srgbClr val="000000"/>
              </a:solidFill>
              <a:effectLst/>
              <a:uFillTx/>
              <a:latin typeface="Arial"/>
            </a:endParaRPr>
          </a:p>
        </p:txBody>
      </p:sp>
      <p:sp>
        <p:nvSpPr>
          <p:cNvPr id="143" name="text-11-109"/>
          <p:cNvSpPr/>
          <p:nvPr/>
        </p:nvSpPr>
        <p:spPr>
          <a:xfrm>
            <a:off x="609480" y="6229440"/>
            <a:ext cx="10572480" cy="304560"/>
          </a:xfrm>
          <a:prstGeom prst="rect">
            <a:avLst/>
          </a:prstGeom>
          <a:noFill/>
          <a:ln w="0">
            <a:noFill/>
          </a:ln>
        </p:spPr>
        <p:style>
          <a:lnRef idx="0"/>
          <a:fillRef idx="0"/>
          <a:effectRef idx="0"/>
          <a:fontRef idx="minor"/>
        </p:style>
        <p:txBody>
          <a:bodyPr lIns="0" rIns="0" tIns="0" bIns="0" anchor="t">
            <a:noAutofit/>
          </a:bodyPr>
          <a:p>
            <a:pPr>
              <a:lnSpc>
                <a:spcPct val="100000"/>
              </a:lnSpc>
            </a:pPr>
            <a:r>
              <a:t>Все сценарии проверены на мобильных устройствах, в десктоп-клиенте MAX и через HTTPS API.</a:t>
            </a:r>
            <a:endParaRPr b="0" lang="ru-RU" sz="15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0213f"/>
        </a:solidFill>
      </p:bgPr>
    </p:bg>
    <p:spTree>
      <p:nvGrpSpPr>
        <p:cNvPr id="1" name=""/>
        <p:cNvGrpSpPr/>
        <p:nvPr/>
      </p:nvGrpSpPr>
      <p:grpSpPr>
        <a:xfrm>
          <a:off x="0" y="0"/>
          <a:ext cx="0" cy="0"/>
          <a:chOff x="0" y="0"/>
          <a:chExt cx="0" cy="0"/>
        </a:xfrm>
      </p:grpSpPr>
      <p:sp>
        <p:nvSpPr>
          <p:cNvPr id="144" name="text-12-110"/>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ffffff"/>
                </a:solidFill>
                <a:effectLst/>
                <a:uFillTx/>
                <a:latin typeface="Arial"/>
                <a:ea typeface="Arial"/>
              </a:rPr>
              <a:t>Возможности дальнейшего развития</a:t>
            </a:r>
            <a:endParaRPr b="0" lang="ru-RU" sz="3230" strike="noStrike" u="none">
              <a:solidFill>
                <a:srgbClr val="ffffff"/>
              </a:solidFill>
              <a:effectLst/>
              <a:uFillTx/>
              <a:latin typeface="Arial"/>
            </a:endParaRPr>
          </a:p>
        </p:txBody>
      </p:sp>
      <p:sp>
        <p:nvSpPr>
          <p:cNvPr id="145" name="text-12-111"/>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d1c6dc"/>
                </a:solidFill>
                <a:effectLst/>
                <a:uFillTx/>
                <a:latin typeface="Arial"/>
                <a:ea typeface="Arial"/>
              </a:rPr>
              <a:t>12</a:t>
            </a:r>
            <a:endParaRPr b="0" lang="ru-RU" sz="1200" strike="noStrike" u="none">
              <a:solidFill>
                <a:srgbClr val="ffffff"/>
              </a:solidFill>
              <a:effectLst/>
              <a:uFillTx/>
              <a:latin typeface="Arial"/>
            </a:endParaRPr>
          </a:p>
        </p:txBody>
      </p:sp>
      <p:sp>
        <p:nvSpPr>
          <p:cNvPr id="146" name="text-12-112"/>
          <p:cNvSpPr/>
          <p:nvPr/>
        </p:nvSpPr>
        <p:spPr>
          <a:xfrm>
            <a:off x="609480" y="2048040"/>
            <a:ext cx="5333760" cy="3902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170" strike="noStrike" u="none">
                <a:solidFill>
                  <a:srgbClr val="c6afdc"/>
                </a:solidFill>
                <a:effectLst/>
                <a:uFillTx/>
                <a:latin typeface="Arial"/>
                <a:ea typeface="Arial"/>
              </a:rPr>
              <a:t>Первый охват</a:t>
            </a:r>
            <a:endParaRPr b="0" lang="ru-RU" sz="2170" strike="noStrike" u="none">
              <a:solidFill>
                <a:srgbClr val="ffffff"/>
              </a:solidFill>
              <a:effectLst/>
              <a:uFillTx/>
              <a:latin typeface="Arial"/>
            </a:endParaRPr>
          </a:p>
        </p:txBody>
      </p:sp>
      <p:sp>
        <p:nvSpPr>
          <p:cNvPr id="147" name="text-12-113"/>
          <p:cNvSpPr/>
          <p:nvPr/>
        </p:nvSpPr>
        <p:spPr>
          <a:xfrm>
            <a:off x="609480" y="2619360"/>
            <a:ext cx="5714640" cy="12380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000" strike="noStrike" u="none">
                <a:solidFill>
                  <a:srgbClr val="ffffff"/>
                </a:solidFill>
                <a:effectLst/>
                <a:uFillTx/>
                <a:latin typeface="Arial"/>
                <a:ea typeface="Arial"/>
              </a:rPr>
              <a:t>7-е классы, которые уже</a:t>
            </a:r>
            <a:endParaRPr b="0" lang="ru-RU" sz="3000" strike="noStrike" u="none">
              <a:solidFill>
                <a:srgbClr val="ffffff"/>
              </a:solidFill>
              <a:effectLst/>
              <a:uFillTx/>
              <a:latin typeface="Arial"/>
            </a:endParaRPr>
          </a:p>
          <a:p>
            <a:pPr>
              <a:lnSpc>
                <a:spcPct val="100000"/>
              </a:lnSpc>
            </a:pPr>
            <a:r>
              <a:rPr b="1" lang="ru-RU" sz="3000" strike="noStrike" u="none">
                <a:solidFill>
                  <a:srgbClr val="ffffff"/>
                </a:solidFill>
                <a:effectLst/>
                <a:uFillTx/>
                <a:latin typeface="Arial"/>
                <a:ea typeface="Arial"/>
              </a:rPr>
              <a:t>используют MAX для общения</a:t>
            </a:r>
            <a:endParaRPr b="0" lang="ru-RU" sz="3000" strike="noStrike" u="none">
              <a:solidFill>
                <a:srgbClr val="ffffff"/>
              </a:solidFill>
              <a:effectLst/>
              <a:uFillTx/>
              <a:latin typeface="Arial"/>
            </a:endParaRPr>
          </a:p>
        </p:txBody>
      </p:sp>
      <p:sp>
        <p:nvSpPr>
          <p:cNvPr id="148" name="text-12-114"/>
          <p:cNvSpPr/>
          <p:nvPr/>
        </p:nvSpPr>
        <p:spPr>
          <a:xfrm>
            <a:off x="7048440" y="2048040"/>
            <a:ext cx="4476240" cy="3902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170" strike="noStrike" u="none">
                <a:solidFill>
                  <a:srgbClr val="c6afdc"/>
                </a:solidFill>
                <a:effectLst/>
                <a:uFillTx/>
                <a:latin typeface="Arial"/>
                <a:ea typeface="Arial"/>
              </a:rPr>
              <a:t>Дальнейшие контексты</a:t>
            </a:r>
            <a:endParaRPr b="0" lang="ru-RU" sz="2170" strike="noStrike" u="none">
              <a:solidFill>
                <a:srgbClr val="ffffff"/>
              </a:solidFill>
              <a:effectLst/>
              <a:uFillTx/>
              <a:latin typeface="Arial"/>
            </a:endParaRPr>
          </a:p>
        </p:txBody>
      </p:sp>
      <p:sp>
        <p:nvSpPr>
          <p:cNvPr id="149" name="text-12-115"/>
          <p:cNvSpPr/>
          <p:nvPr/>
        </p:nvSpPr>
        <p:spPr>
          <a:xfrm>
            <a:off x="7048440" y="2676600"/>
            <a:ext cx="4476240" cy="1514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320" strike="noStrike" u="none">
                <a:solidFill>
                  <a:srgbClr val="ffffff"/>
                </a:solidFill>
                <a:effectLst/>
                <a:uFillTx/>
                <a:latin typeface="Arial"/>
                <a:ea typeface="Arial"/>
              </a:rPr>
              <a:t>Другие школы</a:t>
            </a:r>
            <a:endParaRPr b="0" lang="ru-RU" sz="2320" strike="noStrike" u="none">
              <a:solidFill>
                <a:srgbClr val="ffffff"/>
              </a:solidFill>
              <a:effectLst/>
              <a:uFillTx/>
              <a:latin typeface="Arial"/>
            </a:endParaRPr>
          </a:p>
          <a:p>
            <a:pPr>
              <a:lnSpc>
                <a:spcPct val="100000"/>
              </a:lnSpc>
            </a:pPr>
            <a:r>
              <a:rPr b="0" lang="ru-RU" sz="2320" strike="noStrike" u="none">
                <a:solidFill>
                  <a:srgbClr val="ffffff"/>
                </a:solidFill>
                <a:effectLst/>
                <a:uFillTx/>
                <a:latin typeface="Arial"/>
                <a:ea typeface="Arial"/>
              </a:rPr>
              <a:t>Повторение алгебры в СПО</a:t>
            </a:r>
            <a:endParaRPr b="0" lang="ru-RU" sz="2320" strike="noStrike" u="none">
              <a:solidFill>
                <a:srgbClr val="ffffff"/>
              </a:solidFill>
              <a:effectLst/>
              <a:uFillTx/>
              <a:latin typeface="Arial"/>
            </a:endParaRPr>
          </a:p>
          <a:p>
            <a:pPr>
              <a:lnSpc>
                <a:spcPct val="100000"/>
              </a:lnSpc>
            </a:pPr>
            <a:r>
              <a:rPr b="0" lang="ru-RU" sz="2320" strike="noStrike" u="none">
                <a:solidFill>
                  <a:srgbClr val="ffffff"/>
                </a:solidFill>
                <a:effectLst/>
                <a:uFillTx/>
                <a:latin typeface="Arial"/>
                <a:ea typeface="Arial"/>
              </a:rPr>
              <a:t>Занятия с репетитором</a:t>
            </a:r>
            <a:endParaRPr b="0" lang="ru-RU" sz="2320" strike="noStrike" u="none">
              <a:solidFill>
                <a:srgbClr val="ffffff"/>
              </a:solidFill>
              <a:effectLst/>
              <a:uFillTx/>
              <a:latin typeface="Arial"/>
            </a:endParaRPr>
          </a:p>
        </p:txBody>
      </p:sp>
      <p:sp>
        <p:nvSpPr>
          <p:cNvPr id="150" name=""/>
          <p:cNvSpPr/>
          <p:nvPr/>
        </p:nvSpPr>
        <p:spPr>
          <a:xfrm>
            <a:off x="609480" y="4505040"/>
            <a:ext cx="10972800" cy="360"/>
          </a:xfrm>
          <a:prstGeom prst="line">
            <a:avLst/>
          </a:prstGeom>
          <a:ln w="19050">
            <a:solidFill>
              <a:srgbClr val="675873"/>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151" name="text-12-116"/>
          <p:cNvSpPr/>
          <p:nvPr/>
        </p:nvSpPr>
        <p:spPr>
          <a:xfrm>
            <a:off x="609480" y="4886280"/>
            <a:ext cx="5143320" cy="3902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170" strike="noStrike" u="none">
                <a:solidFill>
                  <a:srgbClr val="9edbc0"/>
                </a:solidFill>
                <a:effectLst/>
                <a:uFillTx/>
                <a:latin typeface="Arial"/>
                <a:ea typeface="Arial"/>
              </a:rPr>
              <a:t>Сохраняем</a:t>
            </a:r>
            <a:endParaRPr b="0" lang="ru-RU" sz="2170" strike="noStrike" u="none">
              <a:solidFill>
                <a:srgbClr val="ffffff"/>
              </a:solidFill>
              <a:effectLst/>
              <a:uFillTx/>
              <a:latin typeface="Arial"/>
            </a:endParaRPr>
          </a:p>
        </p:txBody>
      </p:sp>
      <p:sp>
        <p:nvSpPr>
          <p:cNvPr id="152" name="text-12-117"/>
          <p:cNvSpPr/>
          <p:nvPr/>
        </p:nvSpPr>
        <p:spPr>
          <a:xfrm>
            <a:off x="609480" y="5419800"/>
            <a:ext cx="5667120" cy="84744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020" strike="noStrike" u="none">
                <a:solidFill>
                  <a:srgbClr val="d1c6dc"/>
                </a:solidFill>
                <a:effectLst/>
                <a:uFillTx/>
                <a:latin typeface="Arial"/>
                <a:ea typeface="Arial"/>
              </a:rPr>
              <a:t>Путь ученика, API, генерацию</a:t>
            </a:r>
            <a:endParaRPr b="0" lang="ru-RU" sz="2020" strike="noStrike" u="none">
              <a:solidFill>
                <a:srgbClr val="ffffff"/>
              </a:solidFill>
              <a:effectLst/>
              <a:uFillTx/>
              <a:latin typeface="Arial"/>
            </a:endParaRPr>
          </a:p>
          <a:p>
            <a:pPr>
              <a:lnSpc>
                <a:spcPct val="100000"/>
              </a:lnSpc>
            </a:pPr>
            <a:r>
              <a:rPr b="0" lang="ru-RU" sz="2020" strike="noStrike" u="none">
                <a:solidFill>
                  <a:srgbClr val="d1c6dc"/>
                </a:solidFill>
                <a:effectLst/>
                <a:uFillTx/>
                <a:latin typeface="Arial"/>
                <a:ea typeface="Arial"/>
              </a:rPr>
              <a:t>по шаблонам и хранение результатов</a:t>
            </a:r>
            <a:endParaRPr b="0" lang="ru-RU" sz="2020" strike="noStrike" u="none">
              <a:solidFill>
                <a:srgbClr val="ffffff"/>
              </a:solidFill>
              <a:effectLst/>
              <a:uFillTx/>
              <a:latin typeface="Arial"/>
            </a:endParaRPr>
          </a:p>
        </p:txBody>
      </p:sp>
      <p:sp>
        <p:nvSpPr>
          <p:cNvPr id="153" name="text-12-118"/>
          <p:cNvSpPr/>
          <p:nvPr/>
        </p:nvSpPr>
        <p:spPr>
          <a:xfrm>
            <a:off x="7048440" y="4886280"/>
            <a:ext cx="4476240" cy="3902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2170" strike="noStrike" u="none">
                <a:solidFill>
                  <a:srgbClr val="9edbc0"/>
                </a:solidFill>
                <a:effectLst/>
                <a:uFillTx/>
                <a:latin typeface="Arial"/>
                <a:ea typeface="Arial"/>
              </a:rPr>
              <a:t>Адаптируем</a:t>
            </a:r>
            <a:endParaRPr b="0" lang="ru-RU" sz="2170" strike="noStrike" u="none">
              <a:solidFill>
                <a:srgbClr val="ffffff"/>
              </a:solidFill>
              <a:effectLst/>
              <a:uFillTx/>
              <a:latin typeface="Arial"/>
            </a:endParaRPr>
          </a:p>
        </p:txBody>
      </p:sp>
      <p:sp>
        <p:nvSpPr>
          <p:cNvPr id="154" name="text-12-119"/>
          <p:cNvSpPr/>
          <p:nvPr/>
        </p:nvSpPr>
        <p:spPr>
          <a:xfrm>
            <a:off x="7048440" y="5419800"/>
            <a:ext cx="4476240" cy="84744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020" strike="noStrike" u="none">
                <a:solidFill>
                  <a:srgbClr val="d1c6dc"/>
                </a:solidFill>
                <a:effectLst/>
                <a:uFillTx/>
                <a:latin typeface="Arial"/>
                <a:ea typeface="Arial"/>
              </a:rPr>
              <a:t>Программу и сложность, контент,</a:t>
            </a:r>
            <a:endParaRPr b="0" lang="ru-RU" sz="2020" strike="noStrike" u="none">
              <a:solidFill>
                <a:srgbClr val="ffffff"/>
              </a:solidFill>
              <a:effectLst/>
              <a:uFillTx/>
              <a:latin typeface="Arial"/>
            </a:endParaRPr>
          </a:p>
          <a:p>
            <a:pPr>
              <a:lnSpc>
                <a:spcPct val="100000"/>
              </a:lnSpc>
            </a:pPr>
            <a:r>
              <a:rPr b="0" lang="ru-RU" sz="2020" strike="noStrike" u="none">
                <a:solidFill>
                  <a:srgbClr val="d1c6dc"/>
                </a:solidFill>
                <a:effectLst/>
                <a:uFillTx/>
                <a:latin typeface="Arial"/>
                <a:ea typeface="Arial"/>
              </a:rPr>
              <a:t>нагрузку и правила доступа</a:t>
            </a:r>
            <a:endParaRPr b="0" lang="ru-RU" sz="202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4e306d"/>
        </a:solidFill>
      </p:bgPr>
    </p:bg>
    <p:spTree>
      <p:nvGrpSpPr>
        <p:cNvPr id="1" name=""/>
        <p:cNvGrpSpPr/>
        <p:nvPr/>
      </p:nvGrpSpPr>
      <p:grpSpPr>
        <a:xfrm>
          <a:off x="0" y="0"/>
          <a:ext cx="0" cy="0"/>
          <a:chOff x="0" y="0"/>
          <a:chExt cx="0" cy="0"/>
        </a:xfrm>
      </p:grpSpPr>
      <p:sp>
        <p:nvSpPr>
          <p:cNvPr id="155" name="text-13-120"/>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ffffff"/>
                </a:solidFill>
                <a:effectLst/>
                <a:uFillTx/>
                <a:latin typeface="Arial"/>
                <a:ea typeface="Arial"/>
              </a:rPr>
              <a:t>Короткая практика алгебры через MAX</a:t>
            </a:r>
            <a:endParaRPr b="0" lang="ru-RU" sz="3230" strike="noStrike" u="none">
              <a:solidFill>
                <a:srgbClr val="ffffff"/>
              </a:solidFill>
              <a:effectLst/>
              <a:uFillTx/>
              <a:latin typeface="Arial"/>
            </a:endParaRPr>
          </a:p>
        </p:txBody>
      </p:sp>
      <p:sp>
        <p:nvSpPr>
          <p:cNvPr id="156" name="text-13-121"/>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d1c6dc"/>
                </a:solidFill>
                <a:effectLst/>
                <a:uFillTx/>
                <a:latin typeface="Arial"/>
                <a:ea typeface="Arial"/>
              </a:rPr>
              <a:t>13</a:t>
            </a:r>
            <a:endParaRPr b="0" lang="ru-RU" sz="1200" strike="noStrike" u="none">
              <a:solidFill>
                <a:srgbClr val="ffffff"/>
              </a:solidFill>
              <a:effectLst/>
              <a:uFillTx/>
              <a:latin typeface="Arial"/>
            </a:endParaRPr>
          </a:p>
        </p:txBody>
      </p:sp>
      <p:sp>
        <p:nvSpPr>
          <p:cNvPr id="157" name="text-13-122"/>
          <p:cNvSpPr/>
          <p:nvPr/>
        </p:nvSpPr>
        <p:spPr>
          <a:xfrm>
            <a:off x="609480" y="2057400"/>
            <a:ext cx="10810440" cy="190476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600" strike="noStrike" u="none">
                <a:solidFill>
                  <a:srgbClr val="ffffff"/>
                </a:solidFill>
                <a:effectLst/>
                <a:uFillTx/>
                <a:latin typeface="Arial"/>
                <a:ea typeface="Arial"/>
              </a:rPr>
              <a:t>Следующий шаг:</a:t>
            </a:r>
            <a:endParaRPr b="0" lang="ru-RU" sz="3600" strike="noStrike" u="none">
              <a:solidFill>
                <a:srgbClr val="ffffff"/>
              </a:solidFill>
              <a:effectLst/>
              <a:uFillTx/>
              <a:latin typeface="Arial"/>
            </a:endParaRPr>
          </a:p>
          <a:p>
            <a:pPr>
              <a:lnSpc>
                <a:spcPct val="100000"/>
              </a:lnSpc>
            </a:pPr>
            <a:r>
              <a:rPr b="1" lang="ru-RU" sz="3600" strike="noStrike" u="none">
                <a:solidFill>
                  <a:srgbClr val="ffffff"/>
                </a:solidFill>
                <a:effectLst/>
                <a:uFillTx/>
                <a:latin typeface="Arial"/>
                <a:ea typeface="Arial"/>
              </a:rPr>
              <a:t>корректная проверка ответов</a:t>
            </a:r>
            <a:endParaRPr b="0" lang="ru-RU" sz="3600" strike="noStrike" u="none">
              <a:solidFill>
                <a:srgbClr val="ffffff"/>
              </a:solidFill>
              <a:effectLst/>
              <a:uFillTx/>
              <a:latin typeface="Arial"/>
            </a:endParaRPr>
          </a:p>
          <a:p>
            <a:pPr>
              <a:lnSpc>
                <a:spcPct val="100000"/>
              </a:lnSpc>
            </a:pPr>
            <a:r>
              <a:rPr b="1" lang="ru-RU" sz="3600" strike="noStrike" u="none">
                <a:solidFill>
                  <a:srgbClr val="ffffff"/>
                </a:solidFill>
                <a:effectLst/>
                <a:uFillTx/>
                <a:latin typeface="Arial"/>
                <a:ea typeface="Arial"/>
              </a:rPr>
              <a:t>и стабильная работа в MAX.</a:t>
            </a:r>
            <a:endParaRPr b="0" lang="ru-RU" sz="3600" strike="noStrike" u="none">
              <a:solidFill>
                <a:srgbClr val="ffffff"/>
              </a:solidFill>
              <a:effectLst/>
              <a:uFillTx/>
              <a:latin typeface="Arial"/>
            </a:endParaRPr>
          </a:p>
        </p:txBody>
      </p:sp>
      <p:sp>
        <p:nvSpPr>
          <p:cNvPr id="158" name="text-13-123"/>
          <p:cNvSpPr/>
          <p:nvPr/>
        </p:nvSpPr>
        <p:spPr>
          <a:xfrm>
            <a:off x="609480" y="4248000"/>
            <a:ext cx="10477080" cy="1076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2550" strike="noStrike" u="none">
                <a:solidFill>
                  <a:srgbClr val="ffffff"/>
                </a:solidFill>
                <a:effectLst/>
                <a:uFillTx/>
                <a:latin typeface="Arial"/>
                <a:ea typeface="Arial"/>
              </a:rPr>
              <a:t>Ученик получает задачу и проверку.</a:t>
            </a:r>
            <a:endParaRPr b="0" lang="ru-RU" sz="2550" strike="noStrike" u="none">
              <a:solidFill>
                <a:srgbClr val="ffffff"/>
              </a:solidFill>
              <a:effectLst/>
              <a:uFillTx/>
              <a:latin typeface="Arial"/>
            </a:endParaRPr>
          </a:p>
          <a:p>
            <a:pPr>
              <a:lnSpc>
                <a:spcPct val="100000"/>
              </a:lnSpc>
            </a:pPr>
            <a:r>
              <a:rPr b="0" lang="ru-RU" sz="2550" strike="noStrike" u="none">
                <a:solidFill>
                  <a:srgbClr val="ffffff"/>
                </a:solidFill>
                <a:effectLst/>
                <a:uFillTx/>
                <a:latin typeface="Arial"/>
                <a:ea typeface="Arial"/>
              </a:rPr>
              <a:t>Учитель получает материалы по той же теме.</a:t>
            </a:r>
            <a:endParaRPr b="0" lang="ru-RU" sz="2550" strike="noStrike" u="none">
              <a:solidFill>
                <a:srgbClr val="ffffff"/>
              </a:solidFill>
              <a:effectLst/>
              <a:uFillTx/>
              <a:latin typeface="Arial"/>
            </a:endParaRPr>
          </a:p>
        </p:txBody>
      </p:sp>
      <p:sp>
        <p:nvSpPr>
          <p:cNvPr id="159" name="text-13-124"/>
          <p:cNvSpPr/>
          <p:nvPr/>
        </p:nvSpPr>
        <p:spPr>
          <a:xfrm>
            <a:off x="609480" y="5753160"/>
            <a:ext cx="10477080" cy="561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800" strike="noStrike" u="none">
                <a:solidFill>
                  <a:srgbClr val="efe8f5"/>
                </a:solidFill>
                <a:effectLst/>
                <a:uFillTx/>
                <a:latin typeface="Arial"/>
                <a:ea typeface="Arial"/>
              </a:rPr>
              <a:t>Возможное развитие — проверка удобства с учениками и учителями.</a:t>
            </a:r>
            <a:endParaRPr b="0" lang="ru-RU"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a"/>
        </a:solidFill>
      </p:bgPr>
    </p:bg>
    <p:spTree>
      <p:nvGrpSpPr>
        <p:cNvPr id="1" name=""/>
        <p:cNvGrpSpPr/>
        <p:nvPr/>
      </p:nvGrpSpPr>
      <p:grpSpPr>
        <a:xfrm>
          <a:off x="0" y="0"/>
          <a:ext cx="0" cy="0"/>
          <a:chOff x="0" y="0"/>
          <a:chExt cx="0" cy="0"/>
        </a:xfrm>
      </p:grpSpPr>
      <p:sp>
        <p:nvSpPr>
          <p:cNvPr id="160" name="text-14-125"/>
          <p:cNvSpPr/>
          <p:nvPr/>
        </p:nvSpPr>
        <p:spPr>
          <a:xfrm>
            <a:off x="609480" y="333360"/>
            <a:ext cx="10667520" cy="237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80" strike="noStrike" u="none">
                <a:solidFill>
                  <a:srgbClr val="64616b"/>
                </a:solidFill>
                <a:effectLst/>
                <a:uFillTx/>
                <a:latin typeface="Arial"/>
                <a:ea typeface="Arial"/>
              </a:rPr>
              <a:t>Приложение · для вопросов жюри</a:t>
            </a:r>
            <a:endParaRPr b="0" lang="ru-RU" sz="1280" strike="noStrike" u="none">
              <a:solidFill>
                <a:srgbClr val="000000"/>
              </a:solidFill>
              <a:effectLst/>
              <a:uFillTx/>
              <a:latin typeface="Arial"/>
            </a:endParaRPr>
          </a:p>
        </p:txBody>
      </p:sp>
      <p:sp>
        <p:nvSpPr>
          <p:cNvPr id="161" name="text-14-126"/>
          <p:cNvSpPr/>
          <p:nvPr/>
        </p:nvSpPr>
        <p:spPr>
          <a:xfrm>
            <a:off x="609480" y="771480"/>
            <a:ext cx="10972440" cy="1085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3230" strike="noStrike" u="none">
                <a:solidFill>
                  <a:srgbClr val="27252e"/>
                </a:solidFill>
                <a:effectLst/>
                <a:uFillTx/>
                <a:latin typeface="Arial"/>
                <a:ea typeface="Arial"/>
              </a:rPr>
              <a:t>Источники и границы подтверждения</a:t>
            </a:r>
            <a:endParaRPr b="0" lang="ru-RU" sz="3230" strike="noStrike" u="none">
              <a:solidFill>
                <a:srgbClr val="000000"/>
              </a:solidFill>
              <a:effectLst/>
              <a:uFillTx/>
              <a:latin typeface="Arial"/>
            </a:endParaRPr>
          </a:p>
        </p:txBody>
      </p:sp>
      <p:sp>
        <p:nvSpPr>
          <p:cNvPr id="162" name="text-14-127"/>
          <p:cNvSpPr/>
          <p:nvPr/>
        </p:nvSpPr>
        <p:spPr>
          <a:xfrm>
            <a:off x="11144160" y="6391440"/>
            <a:ext cx="437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200" strike="noStrike" u="none">
                <a:solidFill>
                  <a:srgbClr val="64616b"/>
                </a:solidFill>
                <a:effectLst/>
                <a:uFillTx/>
                <a:latin typeface="Arial"/>
                <a:ea typeface="Arial"/>
              </a:rPr>
              <a:t>14</a:t>
            </a:r>
            <a:endParaRPr b="0" lang="ru-RU" sz="1200" strike="noStrike" u="none">
              <a:solidFill>
                <a:srgbClr val="000000"/>
              </a:solidFill>
              <a:effectLst/>
              <a:uFillTx/>
              <a:latin typeface="Arial"/>
            </a:endParaRPr>
          </a:p>
        </p:txBody>
      </p:sp>
      <p:sp>
        <p:nvSpPr>
          <p:cNvPr id="163" name="text-14-128"/>
          <p:cNvSpPr/>
          <p:nvPr/>
        </p:nvSpPr>
        <p:spPr>
          <a:xfrm>
            <a:off x="609480" y="1981080"/>
            <a:ext cx="352404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950" strike="noStrike" u="none">
                <a:solidFill>
                  <a:srgbClr val="4e306d"/>
                </a:solidFill>
                <a:effectLst/>
                <a:uFillTx/>
                <a:latin typeface="Arial"/>
                <a:ea typeface="Arial"/>
              </a:rPr>
              <a:t>Код и материалы проекта</a:t>
            </a:r>
            <a:endParaRPr b="0" lang="ru-RU" sz="1950" strike="noStrike" u="none">
              <a:solidFill>
                <a:srgbClr val="000000"/>
              </a:solidFill>
              <a:effectLst/>
              <a:uFillTx/>
              <a:latin typeface="Arial"/>
            </a:endParaRPr>
          </a:p>
        </p:txBody>
      </p:sp>
      <p:sp>
        <p:nvSpPr>
          <p:cNvPr id="164" name="text-14-129"/>
          <p:cNvSpPr/>
          <p:nvPr/>
        </p:nvSpPr>
        <p:spPr>
          <a:xfrm>
            <a:off x="4343400" y="1981080"/>
            <a:ext cx="7124400" cy="723600"/>
          </a:xfrm>
          <a:prstGeom prst="rect">
            <a:avLst/>
          </a:prstGeom>
          <a:noFill/>
          <a:ln w="0">
            <a:noFill/>
          </a:ln>
        </p:spPr>
        <p:style>
          <a:lnRef idx="0"/>
          <a:fillRef idx="0"/>
          <a:effectRef idx="0"/>
          <a:fontRef idx="minor"/>
        </p:style>
        <p:txBody>
          <a:bodyPr lIns="0" rIns="0" tIns="0" bIns="0" anchor="t">
            <a:noAutofit/>
          </a:bodyPr>
          <a:p>
            <a:pPr>
              <a:lnSpc>
                <a:spcPct val="100000"/>
              </a:lnSpc>
            </a:pPr>
            <a:r>
              <a:t>https://github.com/BugFix-develop/MAX-BOT/tree/step7</a:t>
            </a:r>
            <a:endParaRPr b="0" lang="ru-RU" sz="1729" strike="noStrike" u="none">
              <a:solidFill>
                <a:srgbClr val="000000"/>
              </a:solidFill>
              <a:effectLst/>
              <a:uFillTx/>
              <a:latin typeface="Arial"/>
            </a:endParaRPr>
          </a:p>
          <a:p>
            <a:pPr>
              <a:lnSpc>
                <a:spcPct val="100000"/>
              </a:lnSpc>
            </a:pPr>
            <a:r>
              <a:t>Коммит: 670602c8075ae8c5e2c3779d1058505d146dfc15</a:t>
            </a:r>
            <a:endParaRPr b="0" lang="ru-RU" sz="1729" strike="noStrike" u="none">
              <a:solidFill>
                <a:srgbClr val="000000"/>
              </a:solidFill>
              <a:effectLst/>
              <a:uFillTx/>
              <a:latin typeface="Arial"/>
            </a:endParaRPr>
          </a:p>
        </p:txBody>
      </p:sp>
      <p:sp>
        <p:nvSpPr>
          <p:cNvPr id="165" name="text-14-130"/>
          <p:cNvSpPr/>
          <p:nvPr/>
        </p:nvSpPr>
        <p:spPr>
          <a:xfrm>
            <a:off x="609480" y="3000240"/>
            <a:ext cx="352404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950" strike="noStrike" u="none">
                <a:solidFill>
                  <a:srgbClr val="4e306d"/>
                </a:solidFill>
                <a:effectLst/>
                <a:uFillTx/>
                <a:latin typeface="Arial"/>
                <a:ea typeface="Arial"/>
              </a:rPr>
              <a:t>Требования трека</a:t>
            </a:r>
            <a:endParaRPr b="0" lang="ru-RU" sz="1950" strike="noStrike" u="none">
              <a:solidFill>
                <a:srgbClr val="000000"/>
              </a:solidFill>
              <a:effectLst/>
              <a:uFillTx/>
              <a:latin typeface="Arial"/>
            </a:endParaRPr>
          </a:p>
        </p:txBody>
      </p:sp>
      <p:sp>
        <p:nvSpPr>
          <p:cNvPr id="166" name="text-14-131"/>
          <p:cNvSpPr/>
          <p:nvPr/>
        </p:nvSpPr>
        <p:spPr>
          <a:xfrm>
            <a:off x="4343400" y="3000240"/>
            <a:ext cx="7124400" cy="723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729" strike="noStrike" u="none">
                <a:solidFill>
                  <a:srgbClr val="64616b"/>
                </a:solidFill>
                <a:effectLst/>
                <a:uFillTx/>
                <a:latin typeface="Arial"/>
                <a:ea typeface="Arial"/>
              </a:rPr>
              <a:t>«Образовательные решения.pdf»: формат с. 9–10, критерии с. 11–14,</a:t>
            </a:r>
            <a:endParaRPr b="0" lang="ru-RU" sz="1729" strike="noStrike" u="none">
              <a:solidFill>
                <a:srgbClr val="000000"/>
              </a:solidFill>
              <a:effectLst/>
              <a:uFillTx/>
              <a:latin typeface="Arial"/>
            </a:endParaRPr>
          </a:p>
          <a:p>
            <a:pPr>
              <a:lnSpc>
                <a:spcPct val="100000"/>
              </a:lnSpc>
            </a:pPr>
            <a:r>
              <a:rPr b="0" lang="ru-RU" sz="1729" strike="noStrike" u="none">
                <a:solidFill>
                  <a:srgbClr val="64616b"/>
                </a:solidFill>
                <a:effectLst/>
                <a:uFillTx/>
                <a:latin typeface="Arial"/>
                <a:ea typeface="Arial"/>
              </a:rPr>
              <a:t>внедрение и масштабирование с. 19–20</a:t>
            </a:r>
            <a:endParaRPr b="0" lang="ru-RU" sz="1729" strike="noStrike" u="none">
              <a:solidFill>
                <a:srgbClr val="000000"/>
              </a:solidFill>
              <a:effectLst/>
              <a:uFillTx/>
              <a:latin typeface="Arial"/>
            </a:endParaRPr>
          </a:p>
        </p:txBody>
      </p:sp>
      <p:sp>
        <p:nvSpPr>
          <p:cNvPr id="167" name="text-14-132"/>
          <p:cNvSpPr/>
          <p:nvPr/>
        </p:nvSpPr>
        <p:spPr>
          <a:xfrm>
            <a:off x="609480" y="4019400"/>
            <a:ext cx="352404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950" strike="noStrike" u="none">
                <a:solidFill>
                  <a:srgbClr val="4e306d"/>
                </a:solidFill>
                <a:effectLst/>
                <a:uFillTx/>
                <a:latin typeface="Arial"/>
                <a:ea typeface="Arial"/>
              </a:rPr>
              <a:t>Проблема и аналоги</a:t>
            </a:r>
            <a:endParaRPr b="0" lang="ru-RU" sz="1950" strike="noStrike" u="none">
              <a:solidFill>
                <a:srgbClr val="000000"/>
              </a:solidFill>
              <a:effectLst/>
              <a:uFillTx/>
              <a:latin typeface="Arial"/>
            </a:endParaRPr>
          </a:p>
        </p:txBody>
      </p:sp>
      <p:sp>
        <p:nvSpPr>
          <p:cNvPr id="168" name="text-14-133"/>
          <p:cNvSpPr/>
          <p:nvPr/>
        </p:nvSpPr>
        <p:spPr>
          <a:xfrm>
            <a:off x="4343400" y="4019400"/>
            <a:ext cx="7124400" cy="723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ru-RU" sz="1729" strike="noStrike" u="sng">
                <a:solidFill>
                  <a:srgbClr val="467886"/>
                </a:solidFill>
                <a:effectLst/>
                <a:uFillTx/>
                <a:latin typeface="Arial"/>
                <a:ea typeface="Arial"/>
                <a:hlinkClick r:id="rId2"/>
              </a:rPr>
              <a:t>ТОГИРРО</a:t>
            </a:r>
            <a:r>
              <a:rPr b="0" lang="ru-RU" sz="1729" strike="noStrike" u="none">
                <a:solidFill>
                  <a:srgbClr val="64616b"/>
                </a:solidFill>
                <a:effectLst/>
                <a:uFillTx/>
                <a:latin typeface="Arial"/>
                <a:ea typeface="Arial"/>
              </a:rPr>
              <a:t>: «Типичные ошибки на ОГЭ по математике в 2025», с. 9</a:t>
            </a:r>
            <a:endParaRPr b="0" lang="ru-RU" sz="1729" strike="noStrike" u="none">
              <a:solidFill>
                <a:srgbClr val="000000"/>
              </a:solidFill>
              <a:effectLst/>
              <a:uFillTx/>
              <a:latin typeface="Arial"/>
            </a:endParaRPr>
          </a:p>
          <a:p>
            <a:pPr>
              <a:lnSpc>
                <a:spcPct val="100000"/>
              </a:lnSpc>
            </a:pPr>
            <a:r>
              <a:rPr b="0" lang="ru-RU" sz="1729" strike="noStrike" u="sng">
                <a:solidFill>
                  <a:srgbClr val="467886"/>
                </a:solidFill>
                <a:effectLst/>
                <a:uFillTx/>
                <a:latin typeface="Arial"/>
                <a:ea typeface="Arial"/>
                <a:hlinkClick r:id="rId3"/>
              </a:rPr>
              <a:t>Учи.ру</a:t>
            </a:r>
            <a:r>
              <a:rPr b="0" lang="ru-RU" sz="1729" strike="noStrike" u="none">
                <a:solidFill>
                  <a:srgbClr val="64616b"/>
                </a:solidFill>
                <a:effectLst/>
                <a:uFillTx/>
                <a:latin typeface="Arial"/>
                <a:ea typeface="Arial"/>
              </a:rPr>
              <a:t>: материалы по алгебре для 7 класса</a:t>
            </a:r>
            <a:endParaRPr b="0" lang="ru-RU" sz="1729" strike="noStrike" u="none">
              <a:solidFill>
                <a:srgbClr val="000000"/>
              </a:solidFill>
              <a:effectLst/>
              <a:uFillTx/>
              <a:latin typeface="Arial"/>
            </a:endParaRPr>
          </a:p>
        </p:txBody>
      </p:sp>
      <p:sp>
        <p:nvSpPr>
          <p:cNvPr id="169" name="text-14-134"/>
          <p:cNvSpPr/>
          <p:nvPr/>
        </p:nvSpPr>
        <p:spPr>
          <a:xfrm>
            <a:off x="609480" y="5038560"/>
            <a:ext cx="352404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1" lang="ru-RU" sz="1950" strike="noStrike" u="none">
                <a:solidFill>
                  <a:srgbClr val="4e306d"/>
                </a:solidFill>
                <a:effectLst/>
                <a:uFillTx/>
                <a:latin typeface="Arial"/>
                <a:ea typeface="Arial"/>
              </a:rPr>
              <a:t>Проверка продукта</a:t>
            </a:r>
            <a:endParaRPr b="0" lang="ru-RU" sz="1950" strike="noStrike" u="none">
              <a:solidFill>
                <a:srgbClr val="000000"/>
              </a:solidFill>
              <a:effectLst/>
              <a:uFillTx/>
              <a:latin typeface="Arial"/>
            </a:endParaRPr>
          </a:p>
        </p:txBody>
      </p:sp>
      <p:sp>
        <p:nvSpPr>
          <p:cNvPr id="170" name="text-14-135"/>
          <p:cNvSpPr/>
          <p:nvPr/>
        </p:nvSpPr>
        <p:spPr>
          <a:xfrm>
            <a:off x="4343400" y="5038560"/>
            <a:ext cx="7124400" cy="723600"/>
          </a:xfrm>
          <a:prstGeom prst="rect">
            <a:avLst/>
          </a:prstGeom>
          <a:noFill/>
          <a:ln w="0">
            <a:noFill/>
          </a:ln>
        </p:spPr>
        <p:style>
          <a:lnRef idx="0"/>
          <a:fillRef idx="0"/>
          <a:effectRef idx="0"/>
          <a:fontRef idx="minor"/>
        </p:style>
        <p:txBody>
          <a:bodyPr lIns="0" rIns="0" tIns="0" bIns="0" anchor="t">
            <a:noAutofit/>
          </a:bodyPr>
          <a:p>
            <a:pPr>
              <a:lnSpc>
                <a:spcPct val="100000"/>
              </a:lnSpc>
            </a:pPr>
            <a:r>
              <a:t>Код: 37 автоматических тестов pytest пройдены успешно (100%)</a:t>
            </a:r>
            <a:endParaRPr b="0" lang="ru-RU" sz="1729" strike="noStrike" u="none">
              <a:solidFill>
                <a:srgbClr val="000000"/>
              </a:solidFill>
              <a:effectLst/>
              <a:uFillTx/>
              <a:latin typeface="Arial"/>
            </a:endParaRPr>
          </a:p>
          <a:p>
            <a:pPr>
              <a:lnSpc>
                <a:spcPct val="100000"/>
              </a:lnSpc>
            </a:pPr>
            <a:r>
              <a:t>Сервер: Cloud.ru VM (135.106.228.49), TLS Let's Encrypt, Caddy + Docker</a:t>
            </a:r>
            <a:endParaRPr b="0" lang="ru-RU" sz="172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pitchFamily="0" charset="1"/>
        <a:ea typeface="Calibri Light" pitchFamily="0" charset="1"/>
        <a:cs typeface="Calibri Light" pitchFamily="0" charset="1"/>
      </a:majorFont>
      <a:minorFont>
        <a:latin typeface="Calibri" pitchFamily="0" charset="1"/>
        <a:ea typeface="Calibri" pitchFamily="0" charset="1"/>
        <a:cs typeface="Calibri"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2026-09-29T18:47:44Z</dcterms:created>
  <dc:creator>Walnut Exporter</dc:creator>
  <dc:description/>
  <dc:language>ru-RU</dc:language>
  <cp:lastModifiedBy/>
  <dcterms:modified xsi:type="dcterms:W3CDTF">2026-09-29T21:55:10Z</dcterms:modified>
  <cp:revision>3</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